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1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2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4a13564edf54b20" /><Relationship Type="http://schemas.openxmlformats.org/officeDocument/2006/relationships/extended-properties" Target="/docProps/app.xml" Id="R037f615d32bd4000" /><Relationship Type="http://schemas.openxmlformats.org/officeDocument/2006/relationships/officeDocument" Target="/ppt/presentation.xml" Id="Rff421ca5d1414eb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3169a7914dd4569"/>
  </p:sldMasterIdLst>
  <p:notesMasterIdLst>
    <p:notesMasterId xmlns:r="http://schemas.openxmlformats.org/officeDocument/2006/relationships" r:id="R444479c00a2a4971"/>
  </p:notesMasterIdLst>
  <p:sldIdLst>
    <p:sldId xmlns:r="http://schemas.openxmlformats.org/officeDocument/2006/relationships" id="256" r:id="R80e38ffa78da4ede"/>
    <p:sldId xmlns:r="http://schemas.openxmlformats.org/officeDocument/2006/relationships" id="257" r:id="R6ac84da01fed4771"/>
    <p:sldId xmlns:r="http://schemas.openxmlformats.org/officeDocument/2006/relationships" id="258" r:id="Rd238a051ade94cf3"/>
    <p:sldId xmlns:r="http://schemas.openxmlformats.org/officeDocument/2006/relationships" id="259" r:id="R87c076370e3e4076"/>
    <p:sldId xmlns:r="http://schemas.openxmlformats.org/officeDocument/2006/relationships" id="260" r:id="Rfb6f99f473fd4d13"/>
    <p:sldId xmlns:r="http://schemas.openxmlformats.org/officeDocument/2006/relationships" id="261" r:id="R32dca4141cc94b73"/>
    <p:sldId xmlns:r="http://schemas.openxmlformats.org/officeDocument/2006/relationships" id="262" r:id="Rf754c264e68d4e15"/>
    <p:sldId xmlns:r="http://schemas.openxmlformats.org/officeDocument/2006/relationships" id="263" r:id="R70225f28dbbf49d3"/>
    <p:sldId xmlns:r="http://schemas.openxmlformats.org/officeDocument/2006/relationships" id="264" r:id="R84fffd77ee154852"/>
    <p:sldId xmlns:r="http://schemas.openxmlformats.org/officeDocument/2006/relationships" id="265" r:id="Rab96c9d5e9744e4c"/>
    <p:sldId xmlns:r="http://schemas.openxmlformats.org/officeDocument/2006/relationships" id="266" r:id="R1887d289be2d4f79"/>
    <p:sldId xmlns:r="http://schemas.openxmlformats.org/officeDocument/2006/relationships" id="267" r:id="Rbbe238aa103c46ac"/>
    <p:sldId xmlns:r="http://schemas.openxmlformats.org/officeDocument/2006/relationships" id="268" r:id="R41c56f1d7b534f6b"/>
    <p:sldId xmlns:r="http://schemas.openxmlformats.org/officeDocument/2006/relationships" id="269" r:id="R9a15628ab6444f83"/>
    <p:sldId xmlns:r="http://schemas.openxmlformats.org/officeDocument/2006/relationships" id="270" r:id="Rcb7d333f1cc044f5"/>
    <p:sldId xmlns:r="http://schemas.openxmlformats.org/officeDocument/2006/relationships" id="271" r:id="Re07a850b7455437f"/>
    <p:sldId xmlns:r="http://schemas.openxmlformats.org/officeDocument/2006/relationships" id="272" r:id="R3867e0ed34854e97"/>
    <p:sldId xmlns:r="http://schemas.openxmlformats.org/officeDocument/2006/relationships" id="273" r:id="R2792b371c7834caf"/>
    <p:sldId xmlns:r="http://schemas.openxmlformats.org/officeDocument/2006/relationships" id="274" r:id="R8f18620cad2e41b9"/>
    <p:sldId xmlns:r="http://schemas.openxmlformats.org/officeDocument/2006/relationships" id="275" r:id="R54a1e9fcd94e42dc"/>
    <p:sldId xmlns:r="http://schemas.openxmlformats.org/officeDocument/2006/relationships" id="276" r:id="Redecd8dfbede4cc4"/>
    <p:sldId xmlns:r="http://schemas.openxmlformats.org/officeDocument/2006/relationships" id="277" r:id="Re8035e0c69a94fbb"/>
    <p:sldId xmlns:r="http://schemas.openxmlformats.org/officeDocument/2006/relationships" id="278" r:id="R4c9c72d6a7574469"/>
    <p:sldId xmlns:r="http://schemas.openxmlformats.org/officeDocument/2006/relationships" id="279" r:id="Rf4aa3fc23d7b4cad"/>
    <p:sldId xmlns:r="http://schemas.openxmlformats.org/officeDocument/2006/relationships" id="280" r:id="Rdf4140c5f98747f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965a03c8aca4bc1" /><Relationship Type="http://schemas.openxmlformats.org/officeDocument/2006/relationships/slideMaster" Target="/ppt/slideMasters/slideMaster1.xml" Id="R93169a7914dd4569" /><Relationship Type="http://schemas.openxmlformats.org/officeDocument/2006/relationships/notesMaster" Target="/ppt/notesMasters/notesMaster1.xml" Id="R444479c00a2a4971" /><Relationship Type="http://schemas.openxmlformats.org/officeDocument/2006/relationships/presProps" Target="/ppt/presProps.xml" Id="Rad052d7b458a4b46" /><Relationship Type="http://schemas.openxmlformats.org/officeDocument/2006/relationships/tableStyles" Target="/ppt/tableStyles.xml" Id="R4958e7609d724c7c" /><Relationship Type="http://schemas.openxmlformats.org/officeDocument/2006/relationships/slide" Target="/ppt/slides/slide1.xml" Id="R80e38ffa78da4ede" /><Relationship Type="http://schemas.openxmlformats.org/officeDocument/2006/relationships/slide" Target="/ppt/slides/slide2.xml" Id="R6ac84da01fed4771" /><Relationship Type="http://schemas.openxmlformats.org/officeDocument/2006/relationships/slide" Target="/ppt/slides/slide3.xml" Id="Rd238a051ade94cf3" /><Relationship Type="http://schemas.openxmlformats.org/officeDocument/2006/relationships/slide" Target="/ppt/slides/slide4.xml" Id="R87c076370e3e4076" /><Relationship Type="http://schemas.openxmlformats.org/officeDocument/2006/relationships/slide" Target="/ppt/slides/slide5.xml" Id="Rfb6f99f473fd4d13" /><Relationship Type="http://schemas.openxmlformats.org/officeDocument/2006/relationships/slide" Target="/ppt/slides/slide6.xml" Id="R32dca4141cc94b73" /><Relationship Type="http://schemas.openxmlformats.org/officeDocument/2006/relationships/slide" Target="/ppt/slides/slide7.xml" Id="Rf754c264e68d4e15" /><Relationship Type="http://schemas.openxmlformats.org/officeDocument/2006/relationships/slide" Target="/ppt/slides/slide8.xml" Id="R70225f28dbbf49d3" /><Relationship Type="http://schemas.openxmlformats.org/officeDocument/2006/relationships/slide" Target="/ppt/slides/slide9.xml" Id="R84fffd77ee154852" /><Relationship Type="http://schemas.openxmlformats.org/officeDocument/2006/relationships/slide" Target="/ppt/slides/slide10.xml" Id="Rab96c9d5e9744e4c" /><Relationship Type="http://schemas.openxmlformats.org/officeDocument/2006/relationships/slide" Target="/ppt/slides/slide11.xml" Id="R1887d289be2d4f79" /><Relationship Type="http://schemas.openxmlformats.org/officeDocument/2006/relationships/slide" Target="/ppt/slides/slide12.xml" Id="Rbbe238aa103c46ac" /><Relationship Type="http://schemas.openxmlformats.org/officeDocument/2006/relationships/slide" Target="/ppt/slides/slide13.xml" Id="R41c56f1d7b534f6b" /><Relationship Type="http://schemas.openxmlformats.org/officeDocument/2006/relationships/slide" Target="/ppt/slides/slide14.xml" Id="R9a15628ab6444f83" /><Relationship Type="http://schemas.openxmlformats.org/officeDocument/2006/relationships/slide" Target="/ppt/slides/slide15.xml" Id="Rcb7d333f1cc044f5" /><Relationship Type="http://schemas.openxmlformats.org/officeDocument/2006/relationships/slide" Target="/ppt/slides/slide16.xml" Id="Re07a850b7455437f" /><Relationship Type="http://schemas.openxmlformats.org/officeDocument/2006/relationships/slide" Target="/ppt/slides/slide17.xml" Id="R3867e0ed34854e97" /><Relationship Type="http://schemas.openxmlformats.org/officeDocument/2006/relationships/slide" Target="/ppt/slides/slide18.xml" Id="R2792b371c7834caf" /><Relationship Type="http://schemas.openxmlformats.org/officeDocument/2006/relationships/slide" Target="/ppt/slides/slide19.xml" Id="R8f18620cad2e41b9" /><Relationship Type="http://schemas.openxmlformats.org/officeDocument/2006/relationships/slide" Target="/ppt/slides/slide20.xml" Id="R54a1e9fcd94e42dc" /><Relationship Type="http://schemas.openxmlformats.org/officeDocument/2006/relationships/slide" Target="/ppt/slides/slide21.xml" Id="Redecd8dfbede4cc4" /><Relationship Type="http://schemas.openxmlformats.org/officeDocument/2006/relationships/slide" Target="/ppt/slides/slide22.xml" Id="Re8035e0c69a94fbb" /><Relationship Type="http://schemas.openxmlformats.org/officeDocument/2006/relationships/slide" Target="/ppt/slides/slide23.xml" Id="R4c9c72d6a7574469" /><Relationship Type="http://schemas.openxmlformats.org/officeDocument/2006/relationships/slide" Target="/ppt/slides/slide24.xml" Id="Rf4aa3fc23d7b4cad" /><Relationship Type="http://schemas.openxmlformats.org/officeDocument/2006/relationships/slide" Target="/ppt/slides/slide25.xml" Id="Rdf4140c5f98747f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509bfe4d94e418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a166332d0f04610" /><Relationship Type="http://schemas.openxmlformats.org/officeDocument/2006/relationships/notesMaster" Target="/ppt/notesMasters/notesMaster1.xml" Id="R27a43d6d37954bc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751c07b173c4728" /><Relationship Type="http://schemas.openxmlformats.org/officeDocument/2006/relationships/notesMaster" Target="/ppt/notesMasters/notesMaster1.xml" Id="Ra7d14e7c2f1a4b2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3d5c5fd4e894055" /><Relationship Type="http://schemas.openxmlformats.org/officeDocument/2006/relationships/notesMaster" Target="/ppt/notesMasters/notesMaster1.xml" Id="R58c7913262804f0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254ad5a57704da4" /><Relationship Type="http://schemas.openxmlformats.org/officeDocument/2006/relationships/notesMaster" Target="/ppt/notesMasters/notesMaster1.xml" Id="R93a9ab98872447a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78ec5fba56b4fae" /><Relationship Type="http://schemas.openxmlformats.org/officeDocument/2006/relationships/notesMaster" Target="/ppt/notesMasters/notesMaster1.xml" Id="Re8f53b99ec1f471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3edffc0f20640ae" /><Relationship Type="http://schemas.openxmlformats.org/officeDocument/2006/relationships/notesMaster" Target="/ppt/notesMasters/notesMaster1.xml" Id="R843721122de34bc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04a4e926d5c4321" /><Relationship Type="http://schemas.openxmlformats.org/officeDocument/2006/relationships/notesMaster" Target="/ppt/notesMasters/notesMaster1.xml" Id="Rd81bc7717d1b4fd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9fecae1ae9d45c9" /><Relationship Type="http://schemas.openxmlformats.org/officeDocument/2006/relationships/notesMaster" Target="/ppt/notesMasters/notesMaster1.xml" Id="Rac7bf2835d82403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43cf781bd8f49cf" /><Relationship Type="http://schemas.openxmlformats.org/officeDocument/2006/relationships/notesMaster" Target="/ppt/notesMasters/notesMaster1.xml" Id="Rea46ac18f7874f6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11b58b3181e47a2" /><Relationship Type="http://schemas.openxmlformats.org/officeDocument/2006/relationships/notesMaster" Target="/ppt/notesMasters/notesMaster1.xml" Id="R8f9024c30db1493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07833b53c834f38" /><Relationship Type="http://schemas.openxmlformats.org/officeDocument/2006/relationships/notesMaster" Target="/ppt/notesMasters/notesMaster1.xml" Id="Ra9777cfbf8ce4e6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a96788bda704dca" /><Relationship Type="http://schemas.openxmlformats.org/officeDocument/2006/relationships/notesMaster" Target="/ppt/notesMasters/notesMaster1.xml" Id="R3f28b852f9ea484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85f7874e7124c3c" /><Relationship Type="http://schemas.openxmlformats.org/officeDocument/2006/relationships/notesMaster" Target="/ppt/notesMasters/notesMaster1.xml" Id="Rd576f2163a324d8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f8448538e854e6e" /><Relationship Type="http://schemas.openxmlformats.org/officeDocument/2006/relationships/notesMaster" Target="/ppt/notesMasters/notesMaster1.xml" Id="Rd861026dc65a44b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c1b7bed73284ab5" /><Relationship Type="http://schemas.openxmlformats.org/officeDocument/2006/relationships/notesMaster" Target="/ppt/notesMasters/notesMaster1.xml" Id="R4bbd6a3d20f1451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e60a04bf82c4b17" /><Relationship Type="http://schemas.openxmlformats.org/officeDocument/2006/relationships/notesMaster" Target="/ppt/notesMasters/notesMaster1.xml" Id="R70c905c5943449d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dde9b3c92ee434e" /><Relationship Type="http://schemas.openxmlformats.org/officeDocument/2006/relationships/notesMaster" Target="/ppt/notesMasters/notesMaster1.xml" Id="Rc5619109c7534f8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12f76e8fcac404e" /><Relationship Type="http://schemas.openxmlformats.org/officeDocument/2006/relationships/notesMaster" Target="/ppt/notesMasters/notesMaster1.xml" Id="Ra207b4ac1c814e8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56181f1ec334341" /><Relationship Type="http://schemas.openxmlformats.org/officeDocument/2006/relationships/notesMaster" Target="/ppt/notesMasters/notesMaster1.xml" Id="R9cf01cb989a04c5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a7a68bb4dac440d" /><Relationship Type="http://schemas.openxmlformats.org/officeDocument/2006/relationships/notesMaster" Target="/ppt/notesMasters/notesMaster1.xml" Id="R6d6d31613e2b4dd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9d7f0e9d0ea43d8" /><Relationship Type="http://schemas.openxmlformats.org/officeDocument/2006/relationships/notesMaster" Target="/ppt/notesMasters/notesMaster1.xml" Id="R59bf3cca2db14b5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a62d66467d04f90" /><Relationship Type="http://schemas.openxmlformats.org/officeDocument/2006/relationships/notesMaster" Target="/ppt/notesMasters/notesMaster1.xml" Id="R021b89f9ee364c65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5fd440aa61084863" /><Relationship Type="http://schemas.openxmlformats.org/officeDocument/2006/relationships/notesMaster" Target="/ppt/notesMasters/notesMaster1.xml" Id="R1b55d115eb1249a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abb46b285b924cb1" /><Relationship Type="http://schemas.openxmlformats.org/officeDocument/2006/relationships/notesMaster" Target="/ppt/notesMasters/notesMaster1.xml" Id="Rc98e3e96c31b4e4e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3afe06e7cad44cf7" /><Relationship Type="http://schemas.openxmlformats.org/officeDocument/2006/relationships/notesMaster" Target="/ppt/notesMasters/notesMaster1.xml" Id="R287d4916502644e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1018a2e49f464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c11a175ac294844" /><Relationship Type="http://schemas.openxmlformats.org/officeDocument/2006/relationships/slideLayout" Target="/ppt/slideLayouts/slideLayout1.xml" Id="Rc7696c98cc8648c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7696c98cc8648c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81fd20f7504c05" /><Relationship Type="http://schemas.openxmlformats.org/officeDocument/2006/relationships/notesSlide" Target="/ppt/notesSlides/notesSlide1.xml" Id="R01b4e2942c614bf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6840e8865c4215" /><Relationship Type="http://schemas.openxmlformats.org/officeDocument/2006/relationships/notesSlide" Target="/ppt/notesSlides/notesSlide2.xml" Id="R9a5d998831e0421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3cc5f7cfa14279" /><Relationship Type="http://schemas.openxmlformats.org/officeDocument/2006/relationships/notesSlide" Target="/ppt/notesSlides/notesSlide3.xml" Id="R4fc46dc7756440e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12e531d1b14bc8" /><Relationship Type="http://schemas.openxmlformats.org/officeDocument/2006/relationships/notesSlide" Target="/ppt/notesSlides/notesSlide4.xml" Id="Re469574156bb48a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03fede76194a3f" /><Relationship Type="http://schemas.openxmlformats.org/officeDocument/2006/relationships/notesSlide" Target="/ppt/notesSlides/notesSlide5.xml" Id="R5ed75221b3884be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a1ef7267df40f3" /><Relationship Type="http://schemas.openxmlformats.org/officeDocument/2006/relationships/notesSlide" Target="/ppt/notesSlides/notesSlide6.xml" Id="Re8aba15ac10f40f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2e11a601b64cbd" /><Relationship Type="http://schemas.openxmlformats.org/officeDocument/2006/relationships/notesSlide" Target="/ppt/notesSlides/notesSlide7.xml" Id="R24924c5c2c1949f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1d9d7951864e9a" /><Relationship Type="http://schemas.openxmlformats.org/officeDocument/2006/relationships/notesSlide" Target="/ppt/notesSlides/notesSlide8.xml" Id="Rbcd920a5666045c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c9d412b2284fdf" /><Relationship Type="http://schemas.openxmlformats.org/officeDocument/2006/relationships/notesSlide" Target="/ppt/notesSlides/notesSlide9.xml" Id="Rb319cde88cb1451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8dbd5fa4894e1d" /><Relationship Type="http://schemas.openxmlformats.org/officeDocument/2006/relationships/notesSlide" Target="/ppt/notesSlides/notesSlide10.xml" Id="R8b735fb4cf1146a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4d289a6c4844ab" /><Relationship Type="http://schemas.openxmlformats.org/officeDocument/2006/relationships/notesSlide" Target="/ppt/notesSlides/notesSlide11.xml" Id="R3d5b6c9db2a0440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df309053d94954" /><Relationship Type="http://schemas.openxmlformats.org/officeDocument/2006/relationships/notesSlide" Target="/ppt/notesSlides/notesSlide12.xml" Id="R02165f041b034e2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837dc95e234a2c" /><Relationship Type="http://schemas.openxmlformats.org/officeDocument/2006/relationships/chart" Target="/ppt/slides/charts/chart1.xml" Id="Rabdaf230278f4e74" /><Relationship Type="http://schemas.openxmlformats.org/officeDocument/2006/relationships/notesSlide" Target="/ppt/notesSlides/notesSlide13.xml" Id="R8fa3a42b90044b8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60ecfd30134ed6" /><Relationship Type="http://schemas.openxmlformats.org/officeDocument/2006/relationships/notesSlide" Target="/ppt/notesSlides/notesSlide14.xml" Id="R48fe7f9d28e4456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4e1e948bb34982" /><Relationship Type="http://schemas.openxmlformats.org/officeDocument/2006/relationships/chart" Target="/ppt/slides/charts/chart2.xml" Id="Rb6a76aff977e4120" /><Relationship Type="http://schemas.openxmlformats.org/officeDocument/2006/relationships/notesSlide" Target="/ppt/notesSlides/notesSlide15.xml" Id="R12743bdef902441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805a6e74c14944" /><Relationship Type="http://schemas.openxmlformats.org/officeDocument/2006/relationships/notesSlide" Target="/ppt/notesSlides/notesSlide16.xml" Id="Rc55ef8b18e01448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abec3e7b694d89" /><Relationship Type="http://schemas.openxmlformats.org/officeDocument/2006/relationships/notesSlide" Target="/ppt/notesSlides/notesSlide17.xml" Id="R649a118e80984d3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9634c60a21401d" /><Relationship Type="http://schemas.openxmlformats.org/officeDocument/2006/relationships/notesSlide" Target="/ppt/notesSlides/notesSlide18.xml" Id="Rc293973bb5bc490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a083dda6394d94" /><Relationship Type="http://schemas.openxmlformats.org/officeDocument/2006/relationships/notesSlide" Target="/ppt/notesSlides/notesSlide19.xml" Id="R28532446a50f4d2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18b878a2c84aeb" /><Relationship Type="http://schemas.openxmlformats.org/officeDocument/2006/relationships/notesSlide" Target="/ppt/notesSlides/notesSlide20.xml" Id="Rc82bbba2937c44a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0bda7f34424c77" /><Relationship Type="http://schemas.openxmlformats.org/officeDocument/2006/relationships/notesSlide" Target="/ppt/notesSlides/notesSlide21.xml" Id="R99f39db5c60740a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191e55d80d42a3" /><Relationship Type="http://schemas.openxmlformats.org/officeDocument/2006/relationships/image" Target="/ppt/media/image.png" Id="Rdcaee67f6e6443b6" /><Relationship Type="http://schemas.openxmlformats.org/officeDocument/2006/relationships/image" Target="/ppt/media/image2.png" Id="R0122896d62c94b7c" /><Relationship Type="http://schemas.openxmlformats.org/officeDocument/2006/relationships/notesSlide" Target="/ppt/notesSlides/notesSlide22.xml" Id="R7b8969c9c4da467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f57e1090c34d91" /><Relationship Type="http://schemas.openxmlformats.org/officeDocument/2006/relationships/notesSlide" Target="/ppt/notesSlides/notesSlide23.xml" Id="R98beafc68a89448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e2fa6b9da04fc8" /><Relationship Type="http://schemas.openxmlformats.org/officeDocument/2006/relationships/notesSlide" Target="/ppt/notesSlides/notesSlide24.xml" Id="R692eb6294b9240c7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ec006aa1634657" /><Relationship Type="http://schemas.openxmlformats.org/officeDocument/2006/relationships/notesSlide" Target="/ppt/notesSlides/notesSlide25.xml" Id="Rf1df42fcd5fb4c29" /></Relationships>
</file>

<file path=ppt/slides/charts/chart1.xml><?xml version="1.0" encoding="utf-8"?>
<c:chartSpace xmlns:c="http://schemas.openxmlformats.org/drawingml/2006/chart">
  <c:lang val="en-US"/>
  <c:roundedCorners val="0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/>
              <a:t>대표 API p99(ms)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v>대표 API p99(ms)</c:v>
          </c:tx>
          <c:spPr>
            <a:solidFill xmlns:a="http://schemas.openxmlformats.org/drawingml/2006/main">
              <a:srgbClr val="6E43F3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6"/>
              <c:pt idx="0">
                <c:v>auth login</c:v>
              </c:pt>
              <c:pt idx="1">
                <c:v>seat-map</c:v>
              </c:pt>
              <c:pt idx="2">
                <c:v>reservation</c:v>
              </c:pt>
              <c:pt idx="3">
                <c:v>payment</c:v>
              </c:pt>
              <c:pt idx="4">
                <c:v>ticket</c:v>
              </c:pt>
              <c:pt idx="5">
                <c:v>notification</c:v>
              </c:pt>
            </c:strLit>
          </c:cat>
          <c:val>
            <c:numLit>
              <c:formatCode>General</c:formatCode>
              <c:ptCount val="6"/>
              <c:pt idx="0">
                <c:v>102.9</c:v>
              </c:pt>
              <c:pt idx="1">
                <c:v>57.8</c:v>
              </c:pt>
              <c:pt idx="2">
                <c:v>11.1</c:v>
              </c:pt>
              <c:pt idx="3">
                <c:v>15.5</c:v>
              </c:pt>
              <c:pt idx="4">
                <c:v>7.2</c:v>
              </c:pt>
              <c:pt idx="5">
                <c:v>6.2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17112D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E0FF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charts/chart2.xml><?xml version="1.0" encoding="utf-8"?>
<c:chartSpace xmlns:c="http://schemas.openxmlformats.org/drawingml/2006/chart">
  <c:lang val="en-US"/>
  <c:roundedCorners val="0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/>
              <a:t>Pod 1개 안정 처리량(RPS)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v>Pod 1개 안정 처리량(RPS)</c:v>
          </c:tx>
          <c:spPr>
            <a:solidFill xmlns:a="http://schemas.openxmlformats.org/drawingml/2006/main">
              <a:srgbClr val="2B6DEB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6"/>
              <c:pt idx="0">
                <c:v>auth</c:v>
              </c:pt>
              <c:pt idx="1">
                <c:v>concert</c:v>
              </c:pt>
              <c:pt idx="2">
                <c:v>reservation</c:v>
              </c:pt>
              <c:pt idx="3">
                <c:v>payment</c:v>
              </c:pt>
              <c:pt idx="4">
                <c:v>ticket</c:v>
              </c:pt>
              <c:pt idx="5">
                <c:v>notification</c:v>
              </c:pt>
            </c:strLit>
          </c:cat>
          <c:val>
            <c:numLit>
              <c:formatCode>General</c:formatCode>
              <c:ptCount val="6"/>
              <c:pt idx="0">
                <c:v>30</c:v>
              </c:pt>
              <c:pt idx="1">
                <c:v>140</c:v>
              </c:pt>
              <c:pt idx="2">
                <c:v>140</c:v>
              </c:pt>
              <c:pt idx="3">
                <c:v>150</c:v>
              </c:pt>
              <c:pt idx="4">
                <c:v>75</c:v>
              </c:pt>
              <c:pt idx="5">
                <c:v>320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17112D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E0FF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873B303-3289-4BA8-A94F-B36BBBA94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43F3"/>
          </a:solidFill>
          <a:ln xmlns:a="http://schemas.openxmlformats.org/drawingml/2006/main" w="0">
            <a:solidFill>
              <a:srgbClr val="6E43F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6342A4-4289-45F6-9023-302F04C1C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2000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E43F3"/>
          </a:solidFill>
          <a:ln xmlns:a="http://schemas.openxmlformats.org/drawingml/2006/main" w="0">
            <a:solidFill>
              <a:srgbClr val="6E43F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관측성 · 부하테스트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744490-34AB-4062-963A-86FAC9BA7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6572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6E43F3"/>
                </a:solidFill>
              </a:defRPr>
            </a:pPr>
            <a:r>
              <a:rPr sz="3450" b="1">
                <a:solidFill>
                  <a:srgbClr val="6E43F3"/>
                </a:solidFill>
              </a:rPr>
              <a:t>MSA 예매 서비스를</a:t>
            </a:r>
          </a:p>
          <a:p xmlns:a="http://schemas.openxmlformats.org/drawingml/2006/main">
            <a:pPr>
              <a:defRPr sz="3450" b="1">
                <a:solidFill>
                  <a:srgbClr val="6E43F3"/>
                </a:solidFill>
              </a:defRPr>
            </a:pPr>
            <a:r>
              <a:rPr sz="3450" b="1">
                <a:solidFill>
                  <a:srgbClr val="6E43F3"/>
                </a:solidFill>
              </a:rPr>
              <a:t>어떻게 관측하고 측정했나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FAC1F5-41E0-4B45-A155-717CB017E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43250"/>
            <a:ext cx="619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C647E"/>
                </a:solidFill>
              </a:defRPr>
            </a:pPr>
            <a:r>
              <a:rPr sz="1500" b="0">
                <a:solidFill>
                  <a:srgbClr val="6C647E"/>
                </a:solidFill>
              </a:rPr>
              <a:t>운영을 가정한 실습 프로젝트에서 metric, log, trace와 k6 실험을 연결한 발표 프로토타입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787FFE-B7D7-4C92-81CF-3A04AD6AB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43400"/>
            <a:ext cx="2476500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2FECAB-8E9E-497D-92AE-FDFBD295A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958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C647E"/>
                </a:solidFill>
              </a:defRPr>
            </a:pPr>
            <a:r>
              <a:rPr sz="1050" b="1">
                <a:solidFill>
                  <a:srgbClr val="6C647E"/>
                </a:solidFill>
              </a:rPr>
              <a:t>발표 기준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679D5A-8D54-411D-BEF0-B820544DE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43450"/>
            <a:ext cx="2133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6E43F3"/>
                </a:solidFill>
              </a:defRPr>
            </a:pPr>
            <a:r>
              <a:rPr sz="2250" b="1">
                <a:solidFill>
                  <a:srgbClr val="6E43F3"/>
                </a:solidFill>
              </a:rPr>
              <a:t>이미지 + 수치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265C51-850C-4CE1-AF06-38F4B1F7F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C647E"/>
                </a:solidFill>
              </a:defRPr>
            </a:pPr>
            <a:r>
              <a:rPr sz="975" b="0">
                <a:solidFill>
                  <a:srgbClr val="6C647E"/>
                </a:solidFill>
              </a:rPr>
              <a:t>설명은 짧게, 분석은 선명하게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4A6858-E459-47BB-AC5E-25E04B670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343400"/>
            <a:ext cx="2476500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A8C006-1F61-407C-A7E9-BC33EF743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4958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C647E"/>
                </a:solidFill>
              </a:defRPr>
            </a:pPr>
            <a:r>
              <a:rPr sz="1050" b="1">
                <a:solidFill>
                  <a:srgbClr val="6C647E"/>
                </a:solidFill>
              </a:rPr>
              <a:t>핵심 실험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61654F-FD69-4368-AD1E-BC74F7CD5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743450"/>
            <a:ext cx="2133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B6DEB"/>
                </a:solidFill>
              </a:defRPr>
            </a:pPr>
            <a:r>
              <a:rPr sz="2250" b="1">
                <a:solidFill>
                  <a:srgbClr val="2B6DEB"/>
                </a:solidFill>
              </a:rPr>
              <a:t>API·RPS·HPA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5095B2-9705-4280-A87E-78EED41FD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1435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C647E"/>
                </a:solidFill>
              </a:defRPr>
            </a:pPr>
            <a:r>
              <a:rPr sz="975" b="0">
                <a:solidFill>
                  <a:srgbClr val="6C647E"/>
                </a:solidFill>
              </a:rPr>
              <a:t>기준치 → 처리량 → 자동확장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C0F2FD-42DD-4242-9EAF-93268B04D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343400"/>
            <a:ext cx="2667000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70ACD6-5886-429D-9F72-AD840E0C3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95800"/>
            <a:ext cx="232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C647E"/>
                </a:solidFill>
              </a:defRPr>
            </a:pPr>
            <a:r>
              <a:rPr sz="1050" b="1">
                <a:solidFill>
                  <a:srgbClr val="6C647E"/>
                </a:solidFill>
              </a:rPr>
              <a:t>최종 판단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E0169B-1774-4390-B050-58EF24023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743450"/>
            <a:ext cx="2324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F9F7A"/>
                </a:solidFill>
              </a:defRPr>
            </a:pPr>
            <a:r>
              <a:rPr sz="2250" b="1">
                <a:solidFill>
                  <a:srgbClr val="0F9F7A"/>
                </a:solidFill>
              </a:rPr>
              <a:t>DB 집중 서비스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2D219A-3526-4AAE-A2A0-BD4EC6029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143500"/>
            <a:ext cx="232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C647E"/>
                </a:solidFill>
              </a:defRPr>
            </a:pPr>
            <a:r>
              <a:rPr sz="975" b="0">
                <a:solidFill>
                  <a:srgbClr val="6C647E"/>
                </a:solidFill>
              </a:rPr>
              <a:t>Redis와 connection budget 필요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E82E75-5969-473B-B4C3-4EE54EECC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143000"/>
            <a:ext cx="2000250" cy="4000500"/>
          </a:xfrm>
          <a:prstGeom xmlns:a="http://schemas.openxmlformats.org/drawingml/2006/main" prst="roundRect">
            <a:avLst>
              <a:gd name="adj" fmla="val 18095"/>
            </a:avLst>
          </a:prstGeom>
          <a:solidFill xmlns:a="http://schemas.openxmlformats.org/drawingml/2006/main">
            <a:srgbClr val="F1EAFF"/>
          </a:solidFill>
          <a:ln xmlns:a="http://schemas.openxmlformats.org/drawingml/2006/main" w="9525">
            <a:solidFill>
              <a:srgbClr val="C7B6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1022E3-9B09-4464-855F-1BF0CF96D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504950"/>
            <a:ext cx="13525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E43F3"/>
          </a:solidFill>
          <a:ln xmlns:a="http://schemas.openxmlformats.org/drawingml/2006/main" w="0">
            <a:solidFill>
              <a:srgbClr val="6E43F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MSA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AB2F21-A5D1-4BF9-98CC-E144155C7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057400"/>
            <a:ext cx="13525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6DEB"/>
          </a:solidFill>
          <a:ln xmlns:a="http://schemas.openxmlformats.org/drawingml/2006/main" w="0">
            <a:solidFill>
              <a:srgbClr val="2B6DE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Metric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94CB35-D235-4DDD-837F-BACCED2E7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609850"/>
            <a:ext cx="13525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E43F3"/>
          </a:solidFill>
          <a:ln xmlns:a="http://schemas.openxmlformats.org/drawingml/2006/main" w="0">
            <a:solidFill>
              <a:srgbClr val="6E43F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Log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2D1035-7E20-45DB-B742-1663C7BF4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162300"/>
            <a:ext cx="13525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6DEB"/>
          </a:solidFill>
          <a:ln xmlns:a="http://schemas.openxmlformats.org/drawingml/2006/main" w="0">
            <a:solidFill>
              <a:srgbClr val="2B6DE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Trace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2A83F8-E6CC-4D64-8425-20DF06264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714750"/>
            <a:ext cx="13525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E43F3"/>
          </a:solidFill>
          <a:ln xmlns:a="http://schemas.openxmlformats.org/drawingml/2006/main" w="0">
            <a:solidFill>
              <a:srgbClr val="6E43F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k6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4FA3F0-6931-4054-BD29-C610C4FEE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267200"/>
            <a:ext cx="13525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6DEB"/>
          </a:solidFill>
          <a:ln xmlns:a="http://schemas.openxmlformats.org/drawingml/2006/main" w="0">
            <a:solidFill>
              <a:srgbClr val="2B6DE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HPA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20DABF-0F0A-4919-92BC-5BB09A010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0"/>
            <a:ext cx="9144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E43F3"/>
          </a:solidFill>
          <a:ln xmlns:a="http://schemas.openxmlformats.org/drawingml/2006/main" w="0">
            <a:solidFill>
              <a:srgbClr val="6E43F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티켓몽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EE2862-012F-411D-A0F3-22151B449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3436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9B7CFF"/>
                </a:solidFill>
              </a:defRPr>
            </a:pPr>
            <a:r>
              <a:rPr sz="975" b="1">
                <a:solidFill>
                  <a:srgbClr val="9B7CFF"/>
                </a:solidFill>
              </a:rPr>
              <a:t>Presentation prototype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E97B28-92FF-4F95-99D7-92D0B41E1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B7CFF"/>
                </a:solidFill>
              </a:defRPr>
            </a:pPr>
            <a:r>
              <a:rPr sz="975" b="1">
                <a:solidFill>
                  <a:srgbClr val="9B7CFF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2779824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E2974D1-75EC-4F43-BB2B-3E5279416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43F3"/>
          </a:solidFill>
          <a:ln xmlns:a="http://schemas.openxmlformats.org/drawingml/2006/main" w="0">
            <a:solidFill>
              <a:srgbClr val="6E43F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185B77-D708-4395-8ED3-A30D22F2B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524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E43F3"/>
          </a:solidFill>
          <a:ln xmlns:a="http://schemas.openxmlformats.org/drawingml/2006/main" w="0">
            <a:solidFill>
              <a:srgbClr val="6E43F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02. 문제 의식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B635FC-9020-4D00-9740-4D8BFE456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6E43F3"/>
                </a:solidFill>
              </a:defRPr>
            </a:pPr>
            <a:r>
              <a:rPr sz="2550" b="1">
                <a:solidFill>
                  <a:srgbClr val="6E43F3"/>
                </a:solidFill>
              </a:rPr>
              <a:t>MSA의 장점은 운영 복잡도로 돌아온다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4847E0-A01C-449C-9666-1B538C7BA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0"/>
            <a:ext cx="9144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E43F3"/>
          </a:solidFill>
          <a:ln xmlns:a="http://schemas.openxmlformats.org/drawingml/2006/main" w="0">
            <a:solidFill>
              <a:srgbClr val="6E43F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티켓몽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5AD756-5E95-4A0C-B411-4FD895F24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3436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9B7CFF"/>
                </a:solidFill>
              </a:defRPr>
            </a:pPr>
            <a:r>
              <a:rPr sz="975" b="1">
                <a:solidFill>
                  <a:srgbClr val="9B7CFF"/>
                </a:solidFill>
              </a:rPr>
              <a:t>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9965D3-2E1F-4322-8DB1-3B2A89A21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B7CFF"/>
                </a:solidFill>
              </a:defRPr>
            </a:pPr>
            <a:r>
              <a:rPr sz="975" b="1">
                <a:solidFill>
                  <a:srgbClr val="9B7CFF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FDA911-5F2A-4428-9582-610B35BFD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3429000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FE9EEC-32E9-4011-A734-A77F884A1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85950"/>
            <a:ext cx="300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112D"/>
                </a:solidFill>
              </a:defRPr>
            </a:pPr>
            <a:r>
              <a:rPr sz="1500" b="1">
                <a:solidFill>
                  <a:srgbClr val="17112D"/>
                </a:solidFill>
              </a:rPr>
              <a:t>개발 관점의 장점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CD91C2-3F55-453F-90AE-B4F88EC6E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30099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C647E"/>
                </a:solidFill>
              </a:defRPr>
            </a:pPr>
            <a:r>
              <a:rPr sz="1125" b="0">
                <a:solidFill>
                  <a:srgbClr val="6C647E"/>
                </a:solidFill>
              </a:rPr>
              <a:t>서비스별 책임 분리</a:t>
            </a:r>
          </a:p>
          <a:p xmlns:a="http://schemas.openxmlformats.org/drawingml/2006/main">
            <a:pPr>
              <a:defRPr sz="1125" b="0">
                <a:solidFill>
                  <a:srgbClr val="6C647E"/>
                </a:solidFill>
              </a:defRPr>
            </a:pPr>
            <a:r>
              <a:rPr sz="1125" b="0">
                <a:solidFill>
                  <a:srgbClr val="6C647E"/>
                </a:solidFill>
              </a:rPr>
              <a:t>독립 배포와 확장</a:t>
            </a:r>
          </a:p>
          <a:p xmlns:a="http://schemas.openxmlformats.org/drawingml/2006/main">
            <a:pPr>
              <a:defRPr sz="1125" b="0">
                <a:solidFill>
                  <a:srgbClr val="6C647E"/>
                </a:solidFill>
              </a:defRPr>
            </a:pPr>
            <a:r>
              <a:rPr sz="1125" b="0">
                <a:solidFill>
                  <a:srgbClr val="6C647E"/>
                </a:solidFill>
              </a:rPr>
              <a:t>auth / concert / payment 단위 개선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92569D-2981-4B07-9750-5C755AB25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714500"/>
            <a:ext cx="3429000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3102E1-8960-4249-851C-C08ECD8B2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885950"/>
            <a:ext cx="300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112D"/>
                </a:solidFill>
              </a:defRPr>
            </a:pPr>
            <a:r>
              <a:rPr sz="1500" b="1">
                <a:solidFill>
                  <a:srgbClr val="17112D"/>
                </a:solidFill>
              </a:rPr>
              <a:t>운영 관점의 질문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EEF5CE-5052-48C5-97C6-8D36101DC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247900"/>
            <a:ext cx="30099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C647E"/>
                </a:solidFill>
              </a:defRPr>
            </a:pPr>
            <a:r>
              <a:rPr sz="1125" b="0">
                <a:solidFill>
                  <a:srgbClr val="6C647E"/>
                </a:solidFill>
              </a:rPr>
              <a:t>요청 하나가 여러 서비스, DB, Kafka를 지나간다.</a:t>
            </a:r>
          </a:p>
          <a:p xmlns:a="http://schemas.openxmlformats.org/drawingml/2006/main">
            <a:pPr>
              <a:defRPr sz="1125" b="0">
                <a:solidFill>
                  <a:srgbClr val="6C647E"/>
                </a:solidFill>
              </a:defRPr>
            </a:pPr>
            <a:r>
              <a:rPr sz="1125" b="0">
                <a:solidFill>
                  <a:srgbClr val="6C647E"/>
                </a:solidFill>
              </a:rPr>
              <a:t>실패 지점과 사용자 영향을 결과만 보고는 알기 어렵다.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BB8FEE-D13C-4849-BE89-EA573654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14500"/>
            <a:ext cx="3429000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F7F3FF"/>
          </a:solidFill>
          <a:ln xmlns:a="http://schemas.openxmlformats.org/drawingml/2006/main" w="9525">
            <a:solidFill>
              <a:srgbClr val="9B7C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A17970-5CED-4B52-9DD7-4511DAAFB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885950"/>
            <a:ext cx="300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112D"/>
                </a:solidFill>
              </a:defRPr>
            </a:pPr>
            <a:r>
              <a:rPr sz="1500" b="1">
                <a:solidFill>
                  <a:srgbClr val="17112D"/>
                </a:solidFill>
              </a:rPr>
              <a:t>관측성 도입 이유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15B21B-CD4A-48A9-9681-C04098FAE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47900"/>
            <a:ext cx="30099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C647E"/>
                </a:solidFill>
              </a:defRPr>
            </a:pPr>
            <a:r>
              <a:rPr sz="1125" b="0">
                <a:solidFill>
                  <a:srgbClr val="6C647E"/>
                </a:solidFill>
              </a:rPr>
              <a:t>대시보드 수집 자체가 목표가 아니라,</a:t>
            </a:r>
          </a:p>
          <a:p xmlns:a="http://schemas.openxmlformats.org/drawingml/2006/main">
            <a:pPr>
              <a:defRPr sz="1125" b="0">
                <a:solidFill>
                  <a:srgbClr val="6C647E"/>
                </a:solidFill>
              </a:defRPr>
            </a:pPr>
            <a:r>
              <a:rPr sz="1125" b="0">
                <a:solidFill>
                  <a:srgbClr val="6C647E"/>
                </a:solidFill>
              </a:rPr>
              <a:t>문제 위치와 병목 원인을 설명하기 위한 구조가 필요했다.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70CAA3-A07F-4B2C-9EBD-69CCD68EA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38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43F3"/>
          </a:solidFill>
          <a:ln xmlns:a="http://schemas.openxmlformats.org/drawingml/2006/main" w="0">
            <a:solidFill>
              <a:srgbClr val="6E43F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B5E9E4-823C-4A1F-AF83-C6183137F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762500"/>
            <a:ext cx="9677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112D"/>
                </a:solidFill>
              </a:defRPr>
            </a:pPr>
            <a:r>
              <a:rPr sz="1350" b="0">
                <a:solidFill>
                  <a:srgbClr val="17112D"/>
                </a:solidFill>
              </a:rPr>
              <a:t>어느 서비스가 문제인가?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323BC1-F7ED-40B6-9ACE-B69EF0B07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81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43F3"/>
          </a:solidFill>
          <a:ln xmlns:a="http://schemas.openxmlformats.org/drawingml/2006/main" w="0">
            <a:solidFill>
              <a:srgbClr val="6E43F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AB1D3E-86DA-4637-8AB9-F9D949379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105400"/>
            <a:ext cx="9677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112D"/>
                </a:solidFill>
              </a:defRPr>
            </a:pPr>
            <a:r>
              <a:rPr sz="1350" b="0">
                <a:solidFill>
                  <a:srgbClr val="17112D"/>
                </a:solidFill>
              </a:rPr>
              <a:t>어디서 병목이 발생하는가?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717E4C-7EDD-4777-9E56-F3E68A42E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24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43F3"/>
          </a:solidFill>
          <a:ln xmlns:a="http://schemas.openxmlformats.org/drawingml/2006/main" w="0">
            <a:solidFill>
              <a:srgbClr val="6E43F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7E8325-E53C-4CB9-86C5-5E723A4FB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448300"/>
            <a:ext cx="9677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112D"/>
                </a:solidFill>
              </a:defRPr>
            </a:pPr>
            <a:r>
              <a:rPr sz="1350" b="0">
                <a:solidFill>
                  <a:srgbClr val="17112D"/>
                </a:solidFill>
              </a:rPr>
              <a:t>사용자는 얼마나 영향을 받는가?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DBF537-DE5B-4ACF-93C5-4953DBB87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867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43F3"/>
          </a:solidFill>
          <a:ln xmlns:a="http://schemas.openxmlformats.org/drawingml/2006/main" w="0">
            <a:solidFill>
              <a:srgbClr val="6E43F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1B8D20-68A8-4BBF-88A9-EA711F842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791200"/>
            <a:ext cx="9677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112D"/>
                </a:solidFill>
              </a:defRPr>
            </a:pPr>
            <a:r>
              <a:rPr sz="1350" b="0">
                <a:solidFill>
                  <a:srgbClr val="17112D"/>
                </a:solidFill>
              </a:rPr>
              <a:t>자동으로 회복되는가?</a:t>
            </a:r>
          </a:p>
        </p:txBody>
      </p:sp>
    </p:spTree>
    <p:extLst>
      <p:ext uri="{BB962C8B-B14F-4D97-AF65-F5344CB8AC3E}">
        <p14:creationId xmlns:p14="http://schemas.microsoft.com/office/powerpoint/2010/main" val="3284138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ACC9A45-341E-4578-8F32-339EE4A6C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43F3"/>
          </a:solidFill>
          <a:ln xmlns:a="http://schemas.openxmlformats.org/drawingml/2006/main" w="0">
            <a:solidFill>
              <a:srgbClr val="6E43F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A6053A-29E3-45FE-BE18-90EDAAD0A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524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E43F3"/>
          </a:solidFill>
          <a:ln xmlns:a="http://schemas.openxmlformats.org/drawingml/2006/main" w="0">
            <a:solidFill>
              <a:srgbClr val="6E43F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03. 질문 정의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F7782B-3502-4370-9C33-2A36EDCCC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6E43F3"/>
                </a:solidFill>
              </a:defRPr>
            </a:pPr>
            <a:r>
              <a:rPr sz="2550" b="1">
                <a:solidFill>
                  <a:srgbClr val="6E43F3"/>
                </a:solidFill>
              </a:rPr>
              <a:t>관측성이 답해야 할 네 가지 질문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822EC8-2486-4D8A-B2C8-43FE87112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0"/>
            <a:ext cx="9144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E43F3"/>
          </a:solidFill>
          <a:ln xmlns:a="http://schemas.openxmlformats.org/drawingml/2006/main" w="0">
            <a:solidFill>
              <a:srgbClr val="6E43F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티켓몽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04BE43-B206-4A9A-BFD2-66B32A543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3436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9B7CFF"/>
                </a:solidFill>
              </a:defRPr>
            </a:pPr>
            <a:r>
              <a:rPr sz="975" b="1">
                <a:solidFill>
                  <a:srgbClr val="9B7CFF"/>
                </a:solidFill>
              </a:rPr>
              <a:t>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AF1E0E-0ECD-41F3-8EF8-260341CCA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B7CFF"/>
                </a:solidFill>
              </a:defRPr>
            </a:pPr>
            <a:r>
              <a:rPr sz="975" b="1">
                <a:solidFill>
                  <a:srgbClr val="9B7CFF"/>
                </a:solidFill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1226BD-6E32-4C65-B7F5-6C0A3AABD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4762500" cy="1190625"/>
          </a:xfrm>
          <a:prstGeom xmlns:a="http://schemas.openxmlformats.org/drawingml/2006/main" prst="roundRect">
            <a:avLst>
              <a:gd name="adj" fmla="val 14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EAFDB6-473B-4FCD-8D03-7D1D72856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81200"/>
            <a:ext cx="434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E43F3"/>
                </a:solidFill>
              </a:defRPr>
            </a:pPr>
            <a:r>
              <a:rPr sz="1500" b="1">
                <a:solidFill>
                  <a:srgbClr val="6E43F3"/>
                </a:solidFill>
              </a:rPr>
              <a:t>어느 서비스?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A79D5E-73DD-42FF-9A01-E0928504B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43150"/>
            <a:ext cx="4343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C647E"/>
                </a:solidFill>
              </a:defRPr>
            </a:pPr>
            <a:r>
              <a:rPr sz="1125" b="0">
                <a:solidFill>
                  <a:srgbClr val="6C647E"/>
                </a:solidFill>
              </a:rPr>
              <a:t>gateway, auth, concert 중 실패나 지연이 시작된 위치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1B4EE9-EFA5-4101-965C-8A2A39369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4762500" cy="1190625"/>
          </a:xfrm>
          <a:prstGeom xmlns:a="http://schemas.openxmlformats.org/drawingml/2006/main" prst="roundRect">
            <a:avLst>
              <a:gd name="adj" fmla="val 14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E9947B-DCE6-47D5-AB83-D78E1DB8C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981200"/>
            <a:ext cx="434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E43F3"/>
                </a:solidFill>
              </a:defRPr>
            </a:pPr>
            <a:r>
              <a:rPr sz="1500" b="1">
                <a:solidFill>
                  <a:srgbClr val="6E43F3"/>
                </a:solidFill>
              </a:rPr>
              <a:t>어디서 병목?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9971C5-C937-4415-9D44-CB360B66A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43150"/>
            <a:ext cx="4343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C647E"/>
                </a:solidFill>
              </a:defRPr>
            </a:pPr>
            <a:r>
              <a:rPr sz="1125" b="0">
                <a:solidFill>
                  <a:srgbClr val="6C647E"/>
                </a:solidFill>
              </a:rPr>
              <a:t>API 처리, DB pool, query, payload, CPU-bound 작업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9B8F2E-4184-4BEC-8D1D-3DBDBC9B4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4762500" cy="1190625"/>
          </a:xfrm>
          <a:prstGeom xmlns:a="http://schemas.openxmlformats.org/drawingml/2006/main" prst="roundRect">
            <a:avLst>
              <a:gd name="adj" fmla="val 14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DD4BA5-4E73-42AB-8F74-9FCD41644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00450"/>
            <a:ext cx="434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E43F3"/>
                </a:solidFill>
              </a:defRPr>
            </a:pPr>
            <a:r>
              <a:rPr sz="1500" b="1">
                <a:solidFill>
                  <a:srgbClr val="6E43F3"/>
                </a:solidFill>
              </a:rPr>
              <a:t>사용자 영향?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59E683-EC5C-47A1-8D44-0A4DC120C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62400"/>
            <a:ext cx="4343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C647E"/>
                </a:solidFill>
              </a:defRPr>
            </a:pPr>
            <a:r>
              <a:rPr sz="1125" b="0">
                <a:solidFill>
                  <a:srgbClr val="6C647E"/>
                </a:solidFill>
              </a:rPr>
              <a:t>p95/p99 latency, error rate, 예매 성공률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9DF39B-AC37-4482-AD0C-B4C928212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29000"/>
            <a:ext cx="4762500" cy="1190625"/>
          </a:xfrm>
          <a:prstGeom xmlns:a="http://schemas.openxmlformats.org/drawingml/2006/main" prst="roundRect">
            <a:avLst>
              <a:gd name="adj" fmla="val 14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31C713-B173-4E37-BDD9-31646AAA6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600450"/>
            <a:ext cx="434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E43F3"/>
                </a:solidFill>
              </a:defRPr>
            </a:pPr>
            <a:r>
              <a:rPr sz="1500" b="1">
                <a:solidFill>
                  <a:srgbClr val="6E43F3"/>
                </a:solidFill>
              </a:rPr>
              <a:t>자동 복구?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11EAAE-D1EA-4FB2-9FFE-8B59F1559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962400"/>
            <a:ext cx="4343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C647E"/>
                </a:solidFill>
              </a:defRPr>
            </a:pPr>
            <a:r>
              <a:rPr sz="1125" b="0">
                <a:solidFill>
                  <a:srgbClr val="6C647E"/>
                </a:solidFill>
              </a:rPr>
              <a:t>HPA scale-out, Pod Ready, cooldown 회복 여부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50EEE6-C68F-4158-BAD5-FE66172BA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4350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4114F"/>
                </a:solidFill>
              </a:defRPr>
            </a:pPr>
            <a:r>
              <a:rPr sz="2100" b="1">
                <a:solidFill>
                  <a:srgbClr val="24114F"/>
                </a:solidFill>
              </a:rPr>
              <a:t>관측성은 도구 도입이 아니라</a:t>
            </a:r>
          </a:p>
          <a:p xmlns:a="http://schemas.openxmlformats.org/drawingml/2006/main">
            <a:pPr algn="ctr">
              <a:defRPr sz="2100" b="1">
                <a:solidFill>
                  <a:srgbClr val="24114F"/>
                </a:solidFill>
              </a:defRPr>
            </a:pPr>
            <a:r>
              <a:rPr sz="2100" b="1">
                <a:solidFill>
                  <a:srgbClr val="24114F"/>
                </a:solidFill>
              </a:rPr>
              <a:t>운영 질문에 답하기 위한 데이터 설계</a:t>
            </a:r>
          </a:p>
        </p:txBody>
      </p:sp>
    </p:spTree>
    <p:extLst>
      <p:ext uri="{BB962C8B-B14F-4D97-AF65-F5344CB8AC3E}">
        <p14:creationId xmlns:p14="http://schemas.microsoft.com/office/powerpoint/2010/main" val="85281766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0FBCCA5-5D20-4BC2-9D88-7AB1F8557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43F3"/>
          </a:solidFill>
          <a:ln xmlns:a="http://schemas.openxmlformats.org/drawingml/2006/main" w="0">
            <a:solidFill>
              <a:srgbClr val="6E43F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E80221-A8E2-4FC7-B7D0-136C723AF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524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E43F3"/>
          </a:solidFill>
          <a:ln xmlns:a="http://schemas.openxmlformats.org/drawingml/2006/main" w="0">
            <a:solidFill>
              <a:srgbClr val="6E43F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04. 요청 추적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964FF1-84AC-4035-AA5B-4C47BC991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6E43F3"/>
                </a:solidFill>
              </a:defRPr>
            </a:pPr>
            <a:r>
              <a:rPr sz="2550" b="1">
                <a:solidFill>
                  <a:srgbClr val="6E43F3"/>
                </a:solidFill>
              </a:rPr>
              <a:t>결제 요청 하나도 여러 경계를 지난다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7E2EDD-237A-478F-A840-D0433A6C7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0"/>
            <a:ext cx="9144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E43F3"/>
          </a:solidFill>
          <a:ln xmlns:a="http://schemas.openxmlformats.org/drawingml/2006/main" w="0">
            <a:solidFill>
              <a:srgbClr val="6E43F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티켓몽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116ED5-B326-4E20-853D-4ECBFE666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3436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9B7CFF"/>
                </a:solidFill>
              </a:defRPr>
            </a:pPr>
            <a:r>
              <a:rPr sz="975" b="1">
                <a:solidFill>
                  <a:srgbClr val="9B7CFF"/>
                </a:solidFill>
              </a:rPr>
              <a:t>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907D77-0A11-4E32-BFB6-FF09973A0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B7CFF"/>
                </a:solidFill>
              </a:defRPr>
            </a:pPr>
            <a:r>
              <a:rPr sz="975" b="1">
                <a:solidFill>
                  <a:srgbClr val="9B7CFF"/>
                </a:solidFill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5AACD3-3407-4826-8165-AE803E8D9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1200150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E43F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BE5F2E-7D76-4024-A14A-AC8EE88F8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28900"/>
            <a:ext cx="1009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112D"/>
                </a:solidFill>
              </a:defRPr>
            </a:pPr>
            <a:r>
              <a:rPr sz="1125" b="1">
                <a:solidFill>
                  <a:srgbClr val="17112D"/>
                </a:solidFill>
              </a:rPr>
              <a:t>User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2AB05B-AA3B-40F5-9F92-EE5268DA9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476500"/>
            <a:ext cx="1200150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E43F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E9452B-C548-4642-BC7E-5FD427EC5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628900"/>
            <a:ext cx="1009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112D"/>
                </a:solidFill>
              </a:defRPr>
            </a:pPr>
            <a:r>
              <a:rPr sz="1125" b="1">
                <a:solidFill>
                  <a:srgbClr val="17112D"/>
                </a:solidFill>
              </a:rPr>
              <a:t>Gateway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16DA25-6B33-44D0-A981-C3F39AD2F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476500"/>
            <a:ext cx="1200150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E43F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AA0024-36CD-405B-9BB4-06BB8FA54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628900"/>
            <a:ext cx="1009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112D"/>
                </a:solidFill>
              </a:defRPr>
            </a:pPr>
            <a:r>
              <a:rPr sz="1125" b="1">
                <a:solidFill>
                  <a:srgbClr val="17112D"/>
                </a:solidFill>
              </a:rPr>
              <a:t>reservation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5F6CA0-AE65-4BE7-8DCD-893BDF2BF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476500"/>
            <a:ext cx="1200150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08A2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8D3E89-7C1B-406A-97E1-D7226357D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628900"/>
            <a:ext cx="1009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112D"/>
                </a:solidFill>
              </a:defRPr>
            </a:pPr>
            <a:r>
              <a:rPr sz="1125" b="1">
                <a:solidFill>
                  <a:srgbClr val="17112D"/>
                </a:solidFill>
              </a:rPr>
              <a:t>payment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4F3878-3344-4B7A-9E9E-431E4EB33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476500"/>
            <a:ext cx="1200150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E43F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54EC43-B951-48EC-A80C-7004C7D86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628900"/>
            <a:ext cx="1009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112D"/>
                </a:solidFill>
              </a:defRPr>
            </a:pPr>
            <a:r>
              <a:rPr sz="1125" b="1">
                <a:solidFill>
                  <a:srgbClr val="17112D"/>
                </a:solidFill>
              </a:rPr>
              <a:t>payment DB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B5966F-7D39-40D0-A425-360AB259A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76500"/>
            <a:ext cx="1200150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E43F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709CD3-8680-4D85-84DF-EDADEF722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628900"/>
            <a:ext cx="1009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112D"/>
                </a:solidFill>
              </a:defRPr>
            </a:pPr>
            <a:r>
              <a:rPr sz="1125" b="1">
                <a:solidFill>
                  <a:srgbClr val="17112D"/>
                </a:solidFill>
              </a:rPr>
              <a:t>Kafka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04AD7A-D559-4622-9459-FD5D21A27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476500"/>
            <a:ext cx="1200150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E43F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789941-5685-42E7-8CA4-FFEF07066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628900"/>
            <a:ext cx="1009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112D"/>
                </a:solidFill>
              </a:defRPr>
            </a:pPr>
            <a:r>
              <a:rPr sz="1125" b="1">
                <a:solidFill>
                  <a:srgbClr val="17112D"/>
                </a:solidFill>
              </a:rPr>
              <a:t>ticket / noti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890E3D-9232-4E64-AA92-37B1116D4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838450"/>
            <a:ext cx="152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B7C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47DDD6-7FDE-49C7-8662-71784AF44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38450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B7C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CD553B-DC66-4F3B-8241-8173DF87B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38450"/>
            <a:ext cx="47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B7C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D0962F-CB9D-4D47-AAAE-44B5F1A9A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8384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B7C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60F292-E48C-427A-8EFE-9C69B4CEA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3845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B7C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677262-FBCD-4ED4-B869-8FC7AD189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838450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B7C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E971969-C848-4EBD-8BB1-FE76A6558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000500"/>
            <a:ext cx="4953000" cy="1238250"/>
          </a:xfrm>
          <a:prstGeom xmlns:a="http://schemas.openxmlformats.org/drawingml/2006/main" prst="roundRect">
            <a:avLst>
              <a:gd name="adj" fmla="val 13846"/>
            </a:avLst>
          </a:prstGeom>
          <a:solidFill xmlns:a="http://schemas.openxmlformats.org/drawingml/2006/main">
            <a:srgbClr val="FFF8EF"/>
          </a:solidFill>
          <a:ln xmlns:a="http://schemas.openxmlformats.org/drawingml/2006/main" w="9525">
            <a:solidFill>
              <a:srgbClr val="FFD5A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9299E5-24D6-4DAE-B51D-6B4593507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171950"/>
            <a:ext cx="453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08A24"/>
                </a:solidFill>
              </a:defRPr>
            </a:pPr>
            <a:r>
              <a:rPr sz="1500" b="1">
                <a:solidFill>
                  <a:srgbClr val="F08A24"/>
                </a:solidFill>
              </a:rPr>
              <a:t>슬라이드 첨부 자료 후보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7AF4638-A68E-42C2-BC01-8DE2DC869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533900"/>
            <a:ext cx="4533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C647E"/>
                </a:solidFill>
              </a:defRPr>
            </a:pPr>
            <a:r>
              <a:rPr sz="1125" b="0">
                <a:solidFill>
                  <a:srgbClr val="6C647E"/>
                </a:solidFill>
              </a:rPr>
              <a:t>결제 처리만 보더라도 reservation-service, payment-service, payment DB, Kafka, ticket-service, notification-service를 지나간다.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CF4E6D1-7A1F-4844-BDFB-3F54E1EF1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000500"/>
            <a:ext cx="4953000" cy="1238250"/>
          </a:xfrm>
          <a:prstGeom xmlns:a="http://schemas.openxmlformats.org/drawingml/2006/main" prst="roundRect">
            <a:avLst>
              <a:gd name="adj" fmla="val 13846"/>
            </a:avLst>
          </a:prstGeom>
          <a:solidFill xmlns:a="http://schemas.openxmlformats.org/drawingml/2006/main">
            <a:srgbClr val="F7F3FF"/>
          </a:solidFill>
          <a:ln xmlns:a="http://schemas.openxmlformats.org/drawingml/2006/main" w="9525">
            <a:solidFill>
              <a:srgbClr val="9B7C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E821EC5-9DA5-4C68-8BF4-0B3EE22BE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4171950"/>
            <a:ext cx="453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E43F3"/>
                </a:solidFill>
              </a:defRPr>
            </a:pPr>
            <a:r>
              <a:rPr sz="1500" b="1">
                <a:solidFill>
                  <a:srgbClr val="6E43F3"/>
                </a:solidFill>
              </a:rPr>
              <a:t>trace가 없으면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1C3032E-BCCC-481C-AD1B-FEE63A1C9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4533900"/>
            <a:ext cx="4533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C647E"/>
                </a:solidFill>
              </a:defRPr>
            </a:pPr>
            <a:r>
              <a:rPr sz="1125" b="0">
                <a:solidFill>
                  <a:srgbClr val="6C647E"/>
                </a:solidFill>
              </a:rPr>
              <a:t>p99 지연이나 에러가 어느 서비스 경계에서 시작됐는지 설명하기 어렵다.</a:t>
            </a:r>
          </a:p>
        </p:txBody>
      </p:sp>
    </p:spTree>
    <p:extLst>
      <p:ext uri="{BB962C8B-B14F-4D97-AF65-F5344CB8AC3E}">
        <p14:creationId xmlns:p14="http://schemas.microsoft.com/office/powerpoint/2010/main" val="21132663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2411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44F3FBE-5FC6-4ED9-B4A7-BB1D06F4F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114F"/>
          </a:solidFill>
          <a:ln xmlns:a="http://schemas.openxmlformats.org/drawingml/2006/main" w="0">
            <a:solidFill>
              <a:srgbClr val="24114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1F31F7-BD0B-41F9-B00E-9AFDC2B8B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914400" cy="9144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6E43F3"/>
          </a:solidFill>
          <a:ln xmlns:a="http://schemas.openxmlformats.org/drawingml/2006/main" w="0">
            <a:solidFill>
              <a:srgbClr val="6E43F3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2A1A27-B527-4AE4-9663-68DE61896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14400"/>
            <a:ext cx="914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2FE6B1-C8B6-4F43-BE7C-C616F6BEE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0"/>
            <a:ext cx="7905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관측성 설계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4C496B-FE7A-4457-A07C-9C2743C48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432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D8CCFF"/>
                </a:solidFill>
              </a:defRPr>
            </a:pPr>
            <a:r>
              <a:rPr sz="1650" b="0">
                <a:solidFill>
                  <a:srgbClr val="D8CCFF"/>
                </a:solidFill>
              </a:rPr>
              <a:t>문제를 보기 위한 구조를 만들다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021B2E-DE31-4C7C-8869-4B49819E9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0960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BBA8FF"/>
                </a:solidFill>
              </a:defRPr>
            </a:pPr>
            <a:r>
              <a:rPr sz="1200" b="1">
                <a:solidFill>
                  <a:srgbClr val="BBA8FF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8449963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D67C862-AE4D-4553-A30F-F7174427C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43F3"/>
          </a:solidFill>
          <a:ln xmlns:a="http://schemas.openxmlformats.org/drawingml/2006/main" w="0">
            <a:solidFill>
              <a:srgbClr val="6E43F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0091CC-7407-4EE8-80B9-CD5839FF4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524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E43F3"/>
          </a:solidFill>
          <a:ln xmlns:a="http://schemas.openxmlformats.org/drawingml/2006/main" w="0">
            <a:solidFill>
              <a:srgbClr val="6E43F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05. 설계 원칙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BFCEE7-0EC7-421B-BD8F-D00E83628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6E43F3"/>
                </a:solidFill>
              </a:defRPr>
            </a:pPr>
            <a:r>
              <a:rPr sz="2550" b="1">
                <a:solidFill>
                  <a:srgbClr val="6E43F3"/>
                </a:solidFill>
              </a:rPr>
              <a:t>metric, log, trace는 서로 다른 질문에 답한다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5D5407-2A89-4C45-A907-396B583B7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0"/>
            <a:ext cx="9144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E43F3"/>
          </a:solidFill>
          <a:ln xmlns:a="http://schemas.openxmlformats.org/drawingml/2006/main" w="0">
            <a:solidFill>
              <a:srgbClr val="6E43F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티켓몽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E333E8-130D-47DC-9F80-72621DBEE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3436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9B7CFF"/>
                </a:solidFill>
              </a:defRPr>
            </a:pPr>
            <a:r>
              <a:rPr sz="975" b="1">
                <a:solidFill>
                  <a:srgbClr val="9B7CFF"/>
                </a:solidFill>
              </a:rPr>
              <a:t>Observability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CC2B81-C11F-4087-AF53-3FF5BBE7D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B7CFF"/>
                </a:solidFill>
              </a:defRPr>
            </a:pPr>
            <a:r>
              <a:rPr sz="975" b="1">
                <a:solidFill>
                  <a:srgbClr val="9B7CFF"/>
                </a:solidFill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7802FD-4925-42C8-9B52-10DA7BDBC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33550"/>
            <a:ext cx="3238500" cy="20002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0B4B89-18FC-4952-A2EF-7CF340B6A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05000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B6DEB"/>
                </a:solidFill>
              </a:defRPr>
            </a:pPr>
            <a:r>
              <a:rPr sz="1500" b="1">
                <a:solidFill>
                  <a:srgbClr val="2B6DEB"/>
                </a:solidFill>
              </a:rPr>
              <a:t>Metric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B09D81-AD6C-471A-8A45-FEBB0E6B5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6950"/>
            <a:ext cx="28194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C647E"/>
                </a:solidFill>
              </a:defRPr>
            </a:pPr>
            <a:r>
              <a:rPr sz="1125" b="0">
                <a:solidFill>
                  <a:srgbClr val="6C647E"/>
                </a:solidFill>
              </a:rPr>
              <a:t>얼마나 나쁜가?</a:t>
            </a:r>
          </a:p>
          <a:p xmlns:a="http://schemas.openxmlformats.org/drawingml/2006/main">
            <a:pPr>
              <a:defRPr sz="1125" b="0">
                <a:solidFill>
                  <a:srgbClr val="6C647E"/>
                </a:solidFill>
              </a:defRPr>
            </a:pPr>
            <a:r>
              <a:rPr sz="1125" b="0">
                <a:solidFill>
                  <a:srgbClr val="6C647E"/>
                </a:solidFill>
              </a:rPr>
              <a:t>RPS, p95/p99, error rate, CPU, HPA 상태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CC357C-4017-4E45-B893-0A802120D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33550"/>
            <a:ext cx="3238500" cy="20002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0582CE-60AE-4D86-B59A-3CFE56011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905000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9F7A"/>
                </a:solidFill>
              </a:defRPr>
            </a:pPr>
            <a:r>
              <a:rPr sz="1500" b="1">
                <a:solidFill>
                  <a:srgbClr val="0F9F7A"/>
                </a:solidFill>
              </a:rPr>
              <a:t>Log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E0D4C2-5037-41DB-BA27-C730CBA87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266950"/>
            <a:ext cx="28194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C647E"/>
                </a:solidFill>
              </a:defRPr>
            </a:pPr>
            <a:r>
              <a:rPr sz="1125" b="0">
                <a:solidFill>
                  <a:srgbClr val="6C647E"/>
                </a:solidFill>
              </a:rPr>
              <a:t>무슨 사건이 있었나?</a:t>
            </a:r>
          </a:p>
          <a:p xmlns:a="http://schemas.openxmlformats.org/drawingml/2006/main">
            <a:pPr>
              <a:defRPr sz="1125" b="0">
                <a:solidFill>
                  <a:srgbClr val="6C647E"/>
                </a:solidFill>
              </a:defRPr>
            </a:pPr>
            <a:r>
              <a:rPr sz="1125" b="0">
                <a:solidFill>
                  <a:srgbClr val="6C647E"/>
                </a:solidFill>
              </a:rPr>
              <a:t>예외, 상태 변경, trace id 기반 검색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AF8933-D4DD-42B4-A1E2-E24E796DD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33550"/>
            <a:ext cx="3238500" cy="20002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038E41-BA34-435A-94F9-F9D2324B1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905000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E43F3"/>
                </a:solidFill>
              </a:defRPr>
            </a:pPr>
            <a:r>
              <a:rPr sz="1500" b="1">
                <a:solidFill>
                  <a:srgbClr val="6E43F3"/>
                </a:solidFill>
              </a:rPr>
              <a:t>Trace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676EBB-ABF3-46F9-BCEE-FC3FD469A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266950"/>
            <a:ext cx="28194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C647E"/>
                </a:solidFill>
              </a:defRPr>
            </a:pPr>
            <a:r>
              <a:rPr sz="1125" b="0">
                <a:solidFill>
                  <a:srgbClr val="6C647E"/>
                </a:solidFill>
              </a:rPr>
              <a:t>요청이 어디를 지났나?</a:t>
            </a:r>
          </a:p>
          <a:p xmlns:a="http://schemas.openxmlformats.org/drawingml/2006/main">
            <a:pPr>
              <a:defRPr sz="1125" b="0">
                <a:solidFill>
                  <a:srgbClr val="6C647E"/>
                </a:solidFill>
              </a:defRPr>
            </a:pPr>
            <a:r>
              <a:rPr sz="1125" b="0">
                <a:solidFill>
                  <a:srgbClr val="6C647E"/>
                </a:solidFill>
              </a:rPr>
              <a:t>서비스 경계, DB span, Kafka event 연결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7956AE-13AF-414C-9A74-DB7CC8CE2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62450"/>
            <a:ext cx="221876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43F3"/>
          </a:solidFill>
          <a:ln xmlns:a="http://schemas.openxmlformats.org/drawingml/2006/main" w="9525">
            <a:solidFill>
              <a:srgbClr val="D8CC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9E930B-5C1C-4A63-B5A3-7FB2F7C62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38650"/>
            <a:ext cx="202826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유형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B21AC3-ECC7-42AC-BEC2-5EA52A211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265" y="4362450"/>
            <a:ext cx="4034118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43F3"/>
          </a:solidFill>
          <a:ln xmlns:a="http://schemas.openxmlformats.org/drawingml/2006/main" w="9525">
            <a:solidFill>
              <a:srgbClr val="D8CC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4859C3-3216-433A-A958-75BED5903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6515" y="4438650"/>
            <a:ext cx="3843618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metric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B95277-AF65-4EB7-B14A-532ADA6BC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5382" y="4362450"/>
            <a:ext cx="4034118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43F3"/>
          </a:solidFill>
          <a:ln xmlns:a="http://schemas.openxmlformats.org/drawingml/2006/main" w="9525">
            <a:solidFill>
              <a:srgbClr val="D8CC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D6D8F7-C45E-4637-8F4E-4D778FE72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0632" y="4438650"/>
            <a:ext cx="3843618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log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52B089-90AD-4977-BC56-29576B187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62500"/>
            <a:ext cx="221876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FF"/>
          </a:solidFill>
          <a:ln xmlns:a="http://schemas.openxmlformats.org/drawingml/2006/main" w="9525">
            <a:solidFill>
              <a:srgbClr val="D8CC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5A9421-3614-4FC5-BC3D-9A06DA88C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38700"/>
            <a:ext cx="202826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7112D"/>
                </a:solidFill>
              </a:defRPr>
            </a:pPr>
            <a:r>
              <a:rPr sz="975" b="0">
                <a:solidFill>
                  <a:srgbClr val="17112D"/>
                </a:solidFill>
              </a:rPr>
              <a:t>시스템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3ED53B-E438-4DD5-949A-D4F3AC273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265" y="4762500"/>
            <a:ext cx="4034118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FF"/>
          </a:solidFill>
          <a:ln xmlns:a="http://schemas.openxmlformats.org/drawingml/2006/main" w="9525">
            <a:solidFill>
              <a:srgbClr val="D8CC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1D10BEA-8A96-43A3-8044-9545C2977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6515" y="4838700"/>
            <a:ext cx="3843618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7112D"/>
                </a:solidFill>
              </a:defRPr>
            </a:pPr>
            <a:r>
              <a:rPr sz="975" b="0">
                <a:solidFill>
                  <a:srgbClr val="17112D"/>
                </a:solidFill>
              </a:rPr>
              <a:t>CPU, memory, Pod, HPA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5AF56C3-70B7-4D01-92A4-F03387F97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5382" y="4762500"/>
            <a:ext cx="4034118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FF"/>
          </a:solidFill>
          <a:ln xmlns:a="http://schemas.openxmlformats.org/drawingml/2006/main" w="9525">
            <a:solidFill>
              <a:srgbClr val="D8CC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598156D-E4F5-46FF-88F3-65E10458C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0632" y="4838700"/>
            <a:ext cx="3843618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7112D"/>
                </a:solidFill>
              </a:defRPr>
            </a:pPr>
            <a:r>
              <a:rPr sz="975" b="0">
                <a:solidFill>
                  <a:srgbClr val="17112D"/>
                </a:solidFill>
              </a:rPr>
              <a:t>Pod restart, scheduling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F5A92DE-D250-450A-8907-5E815E9A7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62550"/>
            <a:ext cx="221876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9934A28-97B2-442E-A5BD-BD607B965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38750"/>
            <a:ext cx="202826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7112D"/>
                </a:solidFill>
              </a:defRPr>
            </a:pPr>
            <a:r>
              <a:rPr sz="975" b="0">
                <a:solidFill>
                  <a:srgbClr val="17112D"/>
                </a:solidFill>
              </a:rPr>
              <a:t>애플리케이션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D84AD76-ED44-4CC7-827A-B4E051F24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265" y="5162550"/>
            <a:ext cx="4034118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DE06B7D-09AF-41EF-9496-323FBA284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6515" y="5238750"/>
            <a:ext cx="3843618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7112D"/>
                </a:solidFill>
              </a:defRPr>
            </a:pPr>
            <a:r>
              <a:rPr sz="975" b="0">
                <a:solidFill>
                  <a:srgbClr val="17112D"/>
                </a:solidFill>
              </a:rPr>
              <a:t>latency, status, DB pool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DC8D6E7-EAB0-44C0-9AA3-0C3E54ABD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5382" y="5162550"/>
            <a:ext cx="4034118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3DA10E5-59BB-4B8D-B152-7FB3C9FC9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0632" y="5238750"/>
            <a:ext cx="3843618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7112D"/>
                </a:solidFill>
              </a:defRPr>
            </a:pPr>
            <a:r>
              <a:rPr sz="975" b="0">
                <a:solidFill>
                  <a:srgbClr val="17112D"/>
                </a:solidFill>
              </a:rPr>
              <a:t>API 요청, DB 오류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A3A54E7-8F77-471F-8C44-B4F06835C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62600"/>
            <a:ext cx="221876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FF"/>
          </a:solidFill>
          <a:ln xmlns:a="http://schemas.openxmlformats.org/drawingml/2006/main" w="9525">
            <a:solidFill>
              <a:srgbClr val="D8CC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26B25F6-0B10-4DCA-BE37-F857F91F3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38800"/>
            <a:ext cx="202826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7112D"/>
                </a:solidFill>
              </a:defRPr>
            </a:pPr>
            <a:r>
              <a:rPr sz="975" b="0">
                <a:solidFill>
                  <a:srgbClr val="17112D"/>
                </a:solidFill>
              </a:rPr>
              <a:t>도메인/감사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A3A380A-5D0E-4F56-BDE0-6B8A41697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265" y="5562600"/>
            <a:ext cx="4034118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FF"/>
          </a:solidFill>
          <a:ln xmlns:a="http://schemas.openxmlformats.org/drawingml/2006/main" w="9525">
            <a:solidFill>
              <a:srgbClr val="D8CC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2E66BEE-D7F3-44A5-848E-7CF2E6D8F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6515" y="5638800"/>
            <a:ext cx="3843618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7112D"/>
                </a:solidFill>
              </a:defRPr>
            </a:pPr>
            <a:r>
              <a:rPr sz="975" b="0">
                <a:solidFill>
                  <a:srgbClr val="17112D"/>
                </a:solidFill>
              </a:rPr>
              <a:t>예약/결제/티켓 성공률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0F666A5-9689-45CD-AB20-55C9EE4CA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5382" y="5562600"/>
            <a:ext cx="4034118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FF"/>
          </a:solidFill>
          <a:ln xmlns:a="http://schemas.openxmlformats.org/drawingml/2006/main" w="9525">
            <a:solidFill>
              <a:srgbClr val="D8CC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8D46286-5D44-4230-B017-7CCBD16DE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0632" y="5638800"/>
            <a:ext cx="3843618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7112D"/>
                </a:solidFill>
              </a:defRPr>
            </a:pPr>
            <a:r>
              <a:rPr sz="975" b="0">
                <a:solidFill>
                  <a:srgbClr val="17112D"/>
                </a:solidFill>
              </a:rPr>
              <a:t>누가 어떤 행동을 했는지</a:t>
            </a:r>
          </a:p>
        </p:txBody>
      </p:sp>
    </p:spTree>
    <p:extLst>
      <p:ext uri="{BB962C8B-B14F-4D97-AF65-F5344CB8AC3E}">
        <p14:creationId xmlns:p14="http://schemas.microsoft.com/office/powerpoint/2010/main" val="118301525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182784C-0ABD-48BC-8EEA-8258560C5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43F3"/>
          </a:solidFill>
          <a:ln xmlns:a="http://schemas.openxmlformats.org/drawingml/2006/main" w="0">
            <a:solidFill>
              <a:srgbClr val="6E43F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9A6C5C-AAB7-40BA-A232-601F256C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524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E43F3"/>
          </a:solidFill>
          <a:ln xmlns:a="http://schemas.openxmlformats.org/drawingml/2006/main" w="0">
            <a:solidFill>
              <a:srgbClr val="6E43F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06. 아키텍처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798FA4-0C60-48BB-B49E-54F32B3E7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6E43F3"/>
                </a:solidFill>
              </a:defRPr>
            </a:pPr>
            <a:r>
              <a:rPr sz="2550" b="1">
                <a:solidFill>
                  <a:srgbClr val="6E43F3"/>
                </a:solidFill>
              </a:rPr>
              <a:t>신호별 성격이 달라 수집 경로도 달라졌다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FABCB0-B428-4211-8689-C10BCF1DD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0"/>
            <a:ext cx="9144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E43F3"/>
          </a:solidFill>
          <a:ln xmlns:a="http://schemas.openxmlformats.org/drawingml/2006/main" w="0">
            <a:solidFill>
              <a:srgbClr val="6E43F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티켓몽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1BD145-4B68-4BF3-8408-277E98931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3436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9B7CFF"/>
                </a:solidFill>
              </a:defRPr>
            </a:pPr>
            <a:r>
              <a:rPr sz="975" b="1">
                <a:solidFill>
                  <a:srgbClr val="9B7CFF"/>
                </a:solidFill>
              </a:rPr>
              <a:t>Observability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3C74DD-EBD5-4C6E-A10E-1D54BF9F6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B7CFF"/>
                </a:solidFill>
              </a:defRPr>
            </a:pPr>
            <a:r>
              <a:rPr sz="975" b="1">
                <a:solidFill>
                  <a:srgbClr val="9B7CFF"/>
                </a:solidFill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12E5C4-84D2-4AB4-8D89-90DC8DF02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33550"/>
            <a:ext cx="2004646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43F3"/>
          </a:solidFill>
          <a:ln xmlns:a="http://schemas.openxmlformats.org/drawingml/2006/main" w="9525">
            <a:solidFill>
              <a:srgbClr val="D8CC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60E7E7-489B-4852-8B54-7B8221A79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1814146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신호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D669CB-7057-450B-A165-90B487AC0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1396" y="1733550"/>
            <a:ext cx="283991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43F3"/>
          </a:solidFill>
          <a:ln xmlns:a="http://schemas.openxmlformats.org/drawingml/2006/main" w="9525">
            <a:solidFill>
              <a:srgbClr val="D8CC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092CC9-952F-461C-8151-1FEEDF70A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6646" y="1809750"/>
            <a:ext cx="264941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생성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529F05-9F55-4F35-A70D-0B14AFF2C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1312" y="1733550"/>
            <a:ext cx="3006969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43F3"/>
          </a:solidFill>
          <a:ln xmlns:a="http://schemas.openxmlformats.org/drawingml/2006/main" w="9525">
            <a:solidFill>
              <a:srgbClr val="D8CC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FF5AA8-4072-4B73-8735-3037EF9E3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6562" y="1809750"/>
            <a:ext cx="2816469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수집/전달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77CE8D-6D31-4879-9938-F10AEC952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8281" y="1733550"/>
            <a:ext cx="3006969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43F3"/>
          </a:solidFill>
          <a:ln xmlns:a="http://schemas.openxmlformats.org/drawingml/2006/main" w="9525">
            <a:solidFill>
              <a:srgbClr val="D8CC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C7B498-CFE0-4211-BF86-F0BCEC993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3531" y="1809750"/>
            <a:ext cx="2816469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저장/조회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66287B-9E69-409F-A35D-7247ED4D1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2004646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FF"/>
          </a:solidFill>
          <a:ln xmlns:a="http://schemas.openxmlformats.org/drawingml/2006/main" w="9525">
            <a:solidFill>
              <a:srgbClr val="D8CC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356E8C-D0B3-47EE-AA36-04E8B04CA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1814146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7112D"/>
                </a:solidFill>
              </a:defRPr>
            </a:pPr>
            <a:r>
              <a:rPr sz="975" b="0">
                <a:solidFill>
                  <a:srgbClr val="17112D"/>
                </a:solidFill>
              </a:rPr>
              <a:t>시스템 메트릭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0980DE-035A-4F4E-9E3B-C1D37094D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1396" y="2190750"/>
            <a:ext cx="283991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FF"/>
          </a:solidFill>
          <a:ln xmlns:a="http://schemas.openxmlformats.org/drawingml/2006/main" w="9525">
            <a:solidFill>
              <a:srgbClr val="D8CC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3A3320-17ED-4ACE-AF48-5A567D444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6646" y="2266950"/>
            <a:ext cx="264941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7112D"/>
                </a:solidFill>
              </a:defRPr>
            </a:pPr>
            <a:r>
              <a:rPr sz="975" b="0">
                <a:solidFill>
                  <a:srgbClr val="17112D"/>
                </a:solidFill>
              </a:rPr>
              <a:t>Kubernetes node/pod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C88FAC-6F12-4720-8921-F5CA91F79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1312" y="2190750"/>
            <a:ext cx="3006969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FF"/>
          </a:solidFill>
          <a:ln xmlns:a="http://schemas.openxmlformats.org/drawingml/2006/main" w="9525">
            <a:solidFill>
              <a:srgbClr val="D8CC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9336F2-F735-46FC-B09C-DB4EA7DD7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6562" y="2266950"/>
            <a:ext cx="2816469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7112D"/>
                </a:solidFill>
              </a:defRPr>
            </a:pPr>
            <a:r>
              <a:rPr sz="975" b="0">
                <a:solidFill>
                  <a:srgbClr val="17112D"/>
                </a:solidFill>
              </a:rPr>
              <a:t>Prometheus scrape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FF2A63-7E5A-4041-AC6C-308A5CA37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8281" y="2190750"/>
            <a:ext cx="3006969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FF"/>
          </a:solidFill>
          <a:ln xmlns:a="http://schemas.openxmlformats.org/drawingml/2006/main" w="9525">
            <a:solidFill>
              <a:srgbClr val="D8CC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5C2ACC-01F7-40B3-805A-C9B43B7D5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3531" y="2266950"/>
            <a:ext cx="2816469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7112D"/>
                </a:solidFill>
              </a:defRPr>
            </a:pPr>
            <a:r>
              <a:rPr sz="975" b="0">
                <a:solidFill>
                  <a:srgbClr val="17112D"/>
                </a:solidFill>
              </a:rPr>
              <a:t>Prometheus / Grafana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B29228-8BB9-4BEF-9C70-F6F3ABBE8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47950"/>
            <a:ext cx="2004646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09BA19-3E13-4299-99EE-FE566FCF0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24150"/>
            <a:ext cx="1814146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7112D"/>
                </a:solidFill>
              </a:defRPr>
            </a:pPr>
            <a:r>
              <a:rPr sz="975" b="0">
                <a:solidFill>
                  <a:srgbClr val="17112D"/>
                </a:solidFill>
              </a:rPr>
              <a:t>앱 메트릭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8C05AD-614D-4A73-8AF7-D09319CC8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1396" y="2647950"/>
            <a:ext cx="283991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5167BE-25BB-4976-A7BC-0C8A833FE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6646" y="2724150"/>
            <a:ext cx="264941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7112D"/>
                </a:solidFill>
              </a:defRPr>
            </a:pPr>
            <a:r>
              <a:rPr sz="975" b="0">
                <a:solidFill>
                  <a:srgbClr val="17112D"/>
                </a:solidFill>
              </a:rPr>
              <a:t>FastAPI /metrics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F02631-D563-4AC2-8CED-A58D13EEA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1312" y="2647950"/>
            <a:ext cx="3006969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0150360-27A4-4666-B9F0-DFEBCF544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6562" y="2724150"/>
            <a:ext cx="2816469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7112D"/>
                </a:solidFill>
              </a:defRPr>
            </a:pPr>
            <a:r>
              <a:rPr sz="975" b="0">
                <a:solidFill>
                  <a:srgbClr val="17112D"/>
                </a:solidFill>
              </a:rPr>
              <a:t>ServiceMonitor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91E1008-261A-4E1E-87D0-B0089F5EE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8281" y="2647950"/>
            <a:ext cx="3006969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1F6B44F-4E1B-44FA-A153-1E1CF24FF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3531" y="2724150"/>
            <a:ext cx="2816469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7112D"/>
                </a:solidFill>
              </a:defRPr>
            </a:pPr>
            <a:r>
              <a:rPr sz="975" b="0">
                <a:solidFill>
                  <a:srgbClr val="17112D"/>
                </a:solidFill>
              </a:rPr>
              <a:t>Prometheus / Grafana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47C8E72-A12A-4BE6-B3A4-AF447F2ED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05150"/>
            <a:ext cx="2004646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FF"/>
          </a:solidFill>
          <a:ln xmlns:a="http://schemas.openxmlformats.org/drawingml/2006/main" w="9525">
            <a:solidFill>
              <a:srgbClr val="D8CC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3469282-92ED-44A6-A54D-3ED07F747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81350"/>
            <a:ext cx="1814146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7112D"/>
                </a:solidFill>
              </a:defRPr>
            </a:pPr>
            <a:r>
              <a:rPr sz="975" b="0">
                <a:solidFill>
                  <a:srgbClr val="17112D"/>
                </a:solidFill>
              </a:rPr>
              <a:t>Trace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25A4A56-0E32-4B82-A3A1-BC991BA7F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1396" y="3105150"/>
            <a:ext cx="283991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FF"/>
          </a:solidFill>
          <a:ln xmlns:a="http://schemas.openxmlformats.org/drawingml/2006/main" w="9525">
            <a:solidFill>
              <a:srgbClr val="D8CC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F176AA8-86CD-495F-AF83-D576C236B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6646" y="3181350"/>
            <a:ext cx="264941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7112D"/>
                </a:solidFill>
              </a:defRPr>
            </a:pPr>
            <a:r>
              <a:rPr sz="975" b="0">
                <a:solidFill>
                  <a:srgbClr val="17112D"/>
                </a:solidFill>
              </a:rPr>
              <a:t>OpenTelemetry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AB5C541-B06A-4AAA-B60E-0C785C9FF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1312" y="3105150"/>
            <a:ext cx="3006969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FF"/>
          </a:solidFill>
          <a:ln xmlns:a="http://schemas.openxmlformats.org/drawingml/2006/main" w="9525">
            <a:solidFill>
              <a:srgbClr val="D8CC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F60B30C-6E96-4D7C-978C-57A200D9D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6562" y="3181350"/>
            <a:ext cx="2816469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7112D"/>
                </a:solidFill>
              </a:defRPr>
            </a:pPr>
            <a:r>
              <a:rPr sz="975" b="0">
                <a:solidFill>
                  <a:srgbClr val="17112D"/>
                </a:solidFill>
              </a:rPr>
              <a:t>OTLP Collector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7945FF3-46D8-4AB3-8CE1-D4F9545B5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8281" y="3105150"/>
            <a:ext cx="3006969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FF"/>
          </a:solidFill>
          <a:ln xmlns:a="http://schemas.openxmlformats.org/drawingml/2006/main" w="9525">
            <a:solidFill>
              <a:srgbClr val="D8CCF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F7D6603-7E11-485B-8E48-C3BF1BAF1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3531" y="3181350"/>
            <a:ext cx="2816469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7112D"/>
                </a:solidFill>
              </a:defRPr>
            </a:pPr>
            <a:r>
              <a:rPr sz="975" b="0">
                <a:solidFill>
                  <a:srgbClr val="17112D"/>
                </a:solidFill>
              </a:rPr>
              <a:t>Tempo / Grafana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D131198-91EF-4556-A309-2ADF56B6D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62350"/>
            <a:ext cx="2004646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F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A34FF42-1055-4E9B-B3C9-5DDEAB2DF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38550"/>
            <a:ext cx="1814146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7112D"/>
                </a:solidFill>
              </a:defRPr>
            </a:pPr>
            <a:r>
              <a:rPr sz="975" b="0">
                <a:solidFill>
                  <a:srgbClr val="17112D"/>
                </a:solidFill>
              </a:rPr>
              <a:t>애플리케이션 로그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A832CC6-DCD0-4532-8375-8726FAB1D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1396" y="3562350"/>
            <a:ext cx="283991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F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8CC5976-8911-4AB9-945C-EA33B32E2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6646" y="3638550"/>
            <a:ext cx="264941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7112D"/>
                </a:solidFill>
              </a:defRPr>
            </a:pPr>
            <a:r>
              <a:rPr sz="975" b="0">
                <a:solidFill>
                  <a:srgbClr val="17112D"/>
                </a:solidFill>
              </a:rPr>
              <a:t>stdout JSON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34E3221-F95F-43D7-96E7-616D856E3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1312" y="3562350"/>
            <a:ext cx="3006969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D5AF4F3-C3E5-45FF-B122-FA8A7AF25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6562" y="3638550"/>
            <a:ext cx="2816469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7112D"/>
                </a:solidFill>
              </a:defRPr>
            </a:pPr>
            <a:r>
              <a:rPr sz="975" b="0">
                <a:solidFill>
                  <a:srgbClr val="17112D"/>
                </a:solidFill>
              </a:rPr>
              <a:t>filelog receiver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98CD30D-208C-4782-89C1-03FEBA388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8281" y="3562350"/>
            <a:ext cx="3006969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F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C245CCD-3F44-4FB9-9766-C520EEAE0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3531" y="3638550"/>
            <a:ext cx="2816469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7112D"/>
                </a:solidFill>
              </a:defRPr>
            </a:pPr>
            <a:r>
              <a:rPr sz="975" b="0">
                <a:solidFill>
                  <a:srgbClr val="17112D"/>
                </a:solidFill>
              </a:rPr>
              <a:t>Loki / Grafana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008495E-7993-4436-A319-61921ADE4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19550"/>
            <a:ext cx="2004646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FF"/>
          </a:solidFill>
          <a:ln xmlns:a="http://schemas.openxmlformats.org/drawingml/2006/main" w="9525">
            <a:solidFill>
              <a:srgbClr val="D8CCF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59894B0-458F-46AB-A97F-2B87FF6C5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814146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7112D"/>
                </a:solidFill>
              </a:defRPr>
            </a:pPr>
            <a:r>
              <a:rPr sz="975" b="0">
                <a:solidFill>
                  <a:srgbClr val="17112D"/>
                </a:solidFill>
              </a:rPr>
              <a:t>감사 로그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260F6F5-456B-45D0-8017-AAC0FB04A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1396" y="4019550"/>
            <a:ext cx="283991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FF"/>
          </a:solidFill>
          <a:ln xmlns:a="http://schemas.openxmlformats.org/drawingml/2006/main" w="9525">
            <a:solidFill>
              <a:srgbClr val="D8CCF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173BF7A-219E-465F-80DE-CE3118AC7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6646" y="4095750"/>
            <a:ext cx="264941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7112D"/>
                </a:solidFill>
              </a:defRPr>
            </a:pPr>
            <a:r>
              <a:rPr sz="975" b="0">
                <a:solidFill>
                  <a:srgbClr val="17112D"/>
                </a:solidFill>
              </a:rPr>
              <a:t>업무 이벤트/outbox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E35B40A-50DE-44C9-88D6-105DB0A00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1312" y="4019550"/>
            <a:ext cx="3006969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FF"/>
          </a:solidFill>
          <a:ln xmlns:a="http://schemas.openxmlformats.org/drawingml/2006/main" w="9525">
            <a:solidFill>
              <a:srgbClr val="D8CCFF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62A194F-78EB-4D5B-9EA1-D1206EDE1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6562" y="4095750"/>
            <a:ext cx="2816469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7112D"/>
                </a:solidFill>
              </a:defRPr>
            </a:pPr>
            <a:r>
              <a:rPr sz="975" b="0">
                <a:solidFill>
                  <a:srgbClr val="17112D"/>
                </a:solidFill>
              </a:rPr>
              <a:t>Kafka 등 별도 경로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CA70B41-FBB6-41B5-9924-EE9E2BC16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8281" y="4019550"/>
            <a:ext cx="3006969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FF"/>
          </a:solidFill>
          <a:ln xmlns:a="http://schemas.openxmlformats.org/drawingml/2006/main" w="9525">
            <a:solidFill>
              <a:srgbClr val="D8CCFF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BA794BA-FF5F-47E3-AB34-46D86D60E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3531" y="4095750"/>
            <a:ext cx="2816469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7112D"/>
                </a:solidFill>
              </a:defRPr>
            </a:pPr>
            <a:r>
              <a:rPr sz="975" b="0">
                <a:solidFill>
                  <a:srgbClr val="17112D"/>
                </a:solidFill>
              </a:rPr>
              <a:t>Elasticsearch / Kibana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19FFEEF-153E-4868-9D7B-7A714C616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62550"/>
            <a:ext cx="1009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4114F"/>
                </a:solidFill>
              </a:defRPr>
            </a:pPr>
            <a:r>
              <a:rPr sz="1650" b="1">
                <a:solidFill>
                  <a:srgbClr val="24114F"/>
                </a:solidFill>
              </a:rPr>
              <a:t>핵심: 모든 관측 데이터를 한 방식으로 모은 것이 아니라, 신호의 성격에 따라 생성 위치와 저장소를 나눴다.</a:t>
            </a:r>
          </a:p>
        </p:txBody>
      </p:sp>
    </p:spTree>
    <p:extLst>
      <p:ext uri="{BB962C8B-B14F-4D97-AF65-F5344CB8AC3E}">
        <p14:creationId xmlns:p14="http://schemas.microsoft.com/office/powerpoint/2010/main" val="123850245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453FA5D-ADC8-4DB7-A738-E820A1F3B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43F3"/>
          </a:solidFill>
          <a:ln xmlns:a="http://schemas.openxmlformats.org/drawingml/2006/main" w="0">
            <a:solidFill>
              <a:srgbClr val="6E43F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669973-10C7-46B3-BF18-09C11C530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524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E43F3"/>
          </a:solidFill>
          <a:ln xmlns:a="http://schemas.openxmlformats.org/drawingml/2006/main" w="0">
            <a:solidFill>
              <a:srgbClr val="6E43F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07. 기술 스택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A92A0C-9AD5-4184-8CD1-6BD2BFB8F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6E43F3"/>
                </a:solidFill>
              </a:defRPr>
            </a:pPr>
            <a:r>
              <a:rPr sz="2550" b="1">
                <a:solidFill>
                  <a:srgbClr val="6E43F3"/>
                </a:solidFill>
              </a:rPr>
              <a:t>기술 스택은 질문별로 역할을 나눴다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FC9EF1-59BD-43D1-AF90-B207DB67C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0"/>
            <a:ext cx="9144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E43F3"/>
          </a:solidFill>
          <a:ln xmlns:a="http://schemas.openxmlformats.org/drawingml/2006/main" w="0">
            <a:solidFill>
              <a:srgbClr val="6E43F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티켓몽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D30BEE-775E-47FA-822F-491A0E9C5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3436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9B7CFF"/>
                </a:solidFill>
              </a:defRPr>
            </a:pPr>
            <a:r>
              <a:rPr sz="975" b="1">
                <a:solidFill>
                  <a:srgbClr val="9B7CFF"/>
                </a:solidFill>
              </a:rPr>
              <a:t>Observability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66C30C-0A17-4F14-944C-A0A1F4E31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B7CFF"/>
                </a:solidFill>
              </a:defRPr>
            </a:pPr>
            <a:r>
              <a:rPr sz="975" b="1">
                <a:solidFill>
                  <a:srgbClr val="9B7CFF"/>
                </a:solidFill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6C3963-D5A8-4119-B5CF-2CA0250A7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95450"/>
            <a:ext cx="3238500" cy="1238250"/>
          </a:xfrm>
          <a:prstGeom xmlns:a="http://schemas.openxmlformats.org/drawingml/2006/main" prst="roundRect">
            <a:avLst>
              <a:gd name="adj" fmla="val 1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E130F1-AA21-4029-A2C6-6A139FBAC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66900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E43F3"/>
                </a:solidFill>
              </a:defRPr>
            </a:pPr>
            <a:r>
              <a:rPr sz="1500" b="1">
                <a:solidFill>
                  <a:srgbClr val="6E43F3"/>
                </a:solidFill>
              </a:rPr>
              <a:t>Prometheus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9EF4FA-3406-486D-890F-D9740F289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8850"/>
            <a:ext cx="2819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C647E"/>
                </a:solidFill>
              </a:defRPr>
            </a:pPr>
            <a:r>
              <a:rPr sz="1125" b="0">
                <a:solidFill>
                  <a:srgbClr val="6C647E"/>
                </a:solidFill>
              </a:rPr>
              <a:t>수치 수집</a:t>
            </a:r>
          </a:p>
          <a:p xmlns:a="http://schemas.openxmlformats.org/drawingml/2006/main">
            <a:pPr>
              <a:defRPr sz="1125" b="0">
                <a:solidFill>
                  <a:srgbClr val="6C647E"/>
                </a:solidFill>
              </a:defRPr>
            </a:pPr>
            <a:r>
              <a:rPr sz="1125" b="0">
                <a:solidFill>
                  <a:srgbClr val="6C647E"/>
                </a:solidFill>
              </a:rPr>
              <a:t>CPU, RPS, latency, HPA 상태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02D056-201A-4847-A85F-D55D45FD0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695450"/>
            <a:ext cx="3238500" cy="1238250"/>
          </a:xfrm>
          <a:prstGeom xmlns:a="http://schemas.openxmlformats.org/drawingml/2006/main" prst="roundRect">
            <a:avLst>
              <a:gd name="adj" fmla="val 1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BA9C4F-1800-4A3A-84AB-4D388A847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866900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B6DEB"/>
                </a:solidFill>
              </a:defRPr>
            </a:pPr>
            <a:r>
              <a:rPr sz="1500" b="1">
                <a:solidFill>
                  <a:srgbClr val="2B6DEB"/>
                </a:solidFill>
              </a:rPr>
              <a:t>Grafana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B25EFE-350A-4D15-B891-603EE5DFC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228850"/>
            <a:ext cx="2819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C647E"/>
                </a:solidFill>
              </a:defRPr>
            </a:pPr>
            <a:r>
              <a:rPr sz="1125" b="0">
                <a:solidFill>
                  <a:srgbClr val="6C647E"/>
                </a:solidFill>
              </a:rPr>
              <a:t>조회/대시보드</a:t>
            </a:r>
          </a:p>
          <a:p xmlns:a="http://schemas.openxmlformats.org/drawingml/2006/main">
            <a:pPr>
              <a:defRPr sz="1125" b="0">
                <a:solidFill>
                  <a:srgbClr val="6C647E"/>
                </a:solidFill>
              </a:defRPr>
            </a:pPr>
            <a:r>
              <a:rPr sz="1125" b="0">
                <a:solidFill>
                  <a:srgbClr val="6C647E"/>
                </a:solidFill>
              </a:rPr>
              <a:t>metric, log, trace를 같은 화면에서 확인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CA8777-5702-4B9B-86DC-B402CD15D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95450"/>
            <a:ext cx="3238500" cy="1238250"/>
          </a:xfrm>
          <a:prstGeom xmlns:a="http://schemas.openxmlformats.org/drawingml/2006/main" prst="roundRect">
            <a:avLst>
              <a:gd name="adj" fmla="val 1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D15663-4E5E-41A1-BD90-B665B1086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866900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E43F3"/>
                </a:solidFill>
              </a:defRPr>
            </a:pPr>
            <a:r>
              <a:rPr sz="1500" b="1">
                <a:solidFill>
                  <a:srgbClr val="6E43F3"/>
                </a:solidFill>
              </a:rPr>
              <a:t>Loki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15AC81-AA74-48D9-AF4B-B7B94A9F7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28850"/>
            <a:ext cx="2819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C647E"/>
                </a:solidFill>
              </a:defRPr>
            </a:pPr>
            <a:r>
              <a:rPr sz="1125" b="0">
                <a:solidFill>
                  <a:srgbClr val="6C647E"/>
                </a:solidFill>
              </a:rPr>
              <a:t>로그 검색</a:t>
            </a:r>
          </a:p>
          <a:p xmlns:a="http://schemas.openxmlformats.org/drawingml/2006/main">
            <a:pPr>
              <a:defRPr sz="1125" b="0">
                <a:solidFill>
                  <a:srgbClr val="6C647E"/>
                </a:solidFill>
              </a:defRPr>
            </a:pPr>
            <a:r>
              <a:rPr sz="1125" b="0">
                <a:solidFill>
                  <a:srgbClr val="6C647E"/>
                </a:solidFill>
              </a:rPr>
              <a:t>trace id와 서비스 로그 연결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29DB70-0DC5-4E5E-B56E-6073FC7E7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52800"/>
            <a:ext cx="3238500" cy="1238250"/>
          </a:xfrm>
          <a:prstGeom xmlns:a="http://schemas.openxmlformats.org/drawingml/2006/main" prst="roundRect">
            <a:avLst>
              <a:gd name="adj" fmla="val 1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9BF022-31F1-4991-A43F-64A918358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24250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B6DEB"/>
                </a:solidFill>
              </a:defRPr>
            </a:pPr>
            <a:r>
              <a:rPr sz="1500" b="1">
                <a:solidFill>
                  <a:srgbClr val="2B6DEB"/>
                </a:solidFill>
              </a:rPr>
              <a:t>Tempo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85C663-CF7E-411E-8684-5357C572A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86200"/>
            <a:ext cx="2819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C647E"/>
                </a:solidFill>
              </a:defRPr>
            </a:pPr>
            <a:r>
              <a:rPr sz="1125" b="0">
                <a:solidFill>
                  <a:srgbClr val="6C647E"/>
                </a:solidFill>
              </a:rPr>
              <a:t>요청 추적</a:t>
            </a:r>
          </a:p>
          <a:p xmlns:a="http://schemas.openxmlformats.org/drawingml/2006/main">
            <a:pPr>
              <a:defRPr sz="1125" b="0">
                <a:solidFill>
                  <a:srgbClr val="6C647E"/>
                </a:solidFill>
              </a:defRPr>
            </a:pPr>
            <a:r>
              <a:rPr sz="1125" b="0">
                <a:solidFill>
                  <a:srgbClr val="6C647E"/>
                </a:solidFill>
              </a:rPr>
              <a:t>서비스 경계와 DB span 확인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4E123B-6E7A-44BA-98BC-04E786FA1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52800"/>
            <a:ext cx="3238500" cy="1238250"/>
          </a:xfrm>
          <a:prstGeom xmlns:a="http://schemas.openxmlformats.org/drawingml/2006/main" prst="roundRect">
            <a:avLst>
              <a:gd name="adj" fmla="val 1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27A1AD-85BC-4642-8DB1-5F32A7A93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524250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E43F3"/>
                </a:solidFill>
              </a:defRPr>
            </a:pPr>
            <a:r>
              <a:rPr sz="1500" b="1">
                <a:solidFill>
                  <a:srgbClr val="6E43F3"/>
                </a:solidFill>
              </a:rPr>
              <a:t>Pyroscope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1D0A2A-A941-47D3-9191-DE85C721C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886200"/>
            <a:ext cx="2819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C647E"/>
                </a:solidFill>
              </a:defRPr>
            </a:pPr>
            <a:r>
              <a:rPr sz="1125" b="0">
                <a:solidFill>
                  <a:srgbClr val="6C647E"/>
                </a:solidFill>
              </a:rPr>
              <a:t>CPU 분석</a:t>
            </a:r>
          </a:p>
          <a:p xmlns:a="http://schemas.openxmlformats.org/drawingml/2006/main">
            <a:pPr>
              <a:defRPr sz="1125" b="0">
                <a:solidFill>
                  <a:srgbClr val="6C647E"/>
                </a:solidFill>
              </a:defRPr>
            </a:pPr>
            <a:r>
              <a:rPr sz="1125" b="0">
                <a:solidFill>
                  <a:srgbClr val="6C647E"/>
                </a:solidFill>
              </a:rPr>
              <a:t>계산 비용 위치 보강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BED61A-9809-4DE6-84C7-A7401B271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52800"/>
            <a:ext cx="3238500" cy="1238250"/>
          </a:xfrm>
          <a:prstGeom xmlns:a="http://schemas.openxmlformats.org/drawingml/2006/main" prst="roundRect">
            <a:avLst>
              <a:gd name="adj" fmla="val 1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C61722-636E-41DE-BA61-974962F53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524250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B6DEB"/>
                </a:solidFill>
              </a:defRPr>
            </a:pPr>
            <a:r>
              <a:rPr sz="1500" b="1">
                <a:solidFill>
                  <a:srgbClr val="2B6DEB"/>
                </a:solidFill>
              </a:rPr>
              <a:t>k6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DF33E9-F88F-481E-A653-62007AF20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86200"/>
            <a:ext cx="2819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C647E"/>
                </a:solidFill>
              </a:defRPr>
            </a:pPr>
            <a:r>
              <a:rPr sz="1125" b="0">
                <a:solidFill>
                  <a:srgbClr val="6C647E"/>
                </a:solidFill>
              </a:rPr>
              <a:t>실험 부하</a:t>
            </a:r>
          </a:p>
          <a:p xmlns:a="http://schemas.openxmlformats.org/drawingml/2006/main">
            <a:pPr>
              <a:defRPr sz="1125" b="0">
                <a:solidFill>
                  <a:srgbClr val="6C647E"/>
                </a:solidFill>
              </a:defRPr>
            </a:pPr>
            <a:r>
              <a:rPr sz="1125" b="0">
                <a:solidFill>
                  <a:srgbClr val="6C647E"/>
                </a:solidFill>
              </a:rPr>
              <a:t>synthetic, benchmark, spike 재현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39F936-5FBC-4CE9-809E-957553716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23875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E43F3"/>
                </a:solidFill>
              </a:defRPr>
            </a:pPr>
            <a:r>
              <a:rPr sz="1800" b="1">
                <a:solidFill>
                  <a:srgbClr val="6E43F3"/>
                </a:solidFill>
              </a:rPr>
              <a:t>도구 목록이 아니라 “어떤 질문에 답하는가”로 설명한다.</a:t>
            </a:r>
          </a:p>
        </p:txBody>
      </p:sp>
    </p:spTree>
    <p:extLst>
      <p:ext uri="{BB962C8B-B14F-4D97-AF65-F5344CB8AC3E}">
        <p14:creationId xmlns:p14="http://schemas.microsoft.com/office/powerpoint/2010/main" val="194861797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2411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4EE0E44-1ABB-40F0-9CF7-A6DDAB543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114F"/>
          </a:solidFill>
          <a:ln xmlns:a="http://schemas.openxmlformats.org/drawingml/2006/main" w="0">
            <a:solidFill>
              <a:srgbClr val="24114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5F433F-3B04-483F-9C0D-C304816A7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914400" cy="9144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6E43F3"/>
          </a:solidFill>
          <a:ln xmlns:a="http://schemas.openxmlformats.org/drawingml/2006/main" w="0">
            <a:solidFill>
              <a:srgbClr val="6E43F3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9CCD97-107A-4DF7-B862-692A8577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14400"/>
            <a:ext cx="914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709A2E-D470-4685-B5A0-11005D969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0"/>
            <a:ext cx="7905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부하테스트와 실험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B407E3-2D3E-4AAA-8341-DF982C23E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432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D8CCFF"/>
                </a:solidFill>
              </a:defRPr>
            </a:pPr>
            <a:r>
              <a:rPr sz="1650" b="0">
                <a:solidFill>
                  <a:srgbClr val="D8CCFF"/>
                </a:solidFill>
              </a:rPr>
              <a:t>관측한 것을 수치로 검증하다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9E063D-F8AC-415C-8522-BCB6FE9FE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0960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BBA8FF"/>
                </a:solidFill>
              </a:defRPr>
            </a:pPr>
            <a:r>
              <a:rPr sz="1200" b="1">
                <a:solidFill>
                  <a:srgbClr val="BBA8FF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69961771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1CF8D3F-AEFA-4BBB-9323-8FFA742E1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43F3"/>
          </a:solidFill>
          <a:ln xmlns:a="http://schemas.openxmlformats.org/drawingml/2006/main" w="0">
            <a:solidFill>
              <a:srgbClr val="6E43F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D86817-B05F-4E34-B3D2-2B9178BC9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524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E43F3"/>
          </a:solidFill>
          <a:ln xmlns:a="http://schemas.openxmlformats.org/drawingml/2006/main" w="0">
            <a:solidFill>
              <a:srgbClr val="6E43F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08. 실험 설계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B8BB68-5E6A-40A4-8AA4-27E7B4803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6E43F3"/>
                </a:solidFill>
              </a:defRPr>
            </a:pPr>
            <a:r>
              <a:rPr sz="2550" b="1">
                <a:solidFill>
                  <a:srgbClr val="6E43F3"/>
                </a:solidFill>
              </a:rPr>
              <a:t>실험은 단계적으로 좁혔다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8701B4-A3C4-4A27-8651-148CFF74E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0"/>
            <a:ext cx="9144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E43F3"/>
          </a:solidFill>
          <a:ln xmlns:a="http://schemas.openxmlformats.org/drawingml/2006/main" w="0">
            <a:solidFill>
              <a:srgbClr val="6E43F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티켓몽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A1F2DA-6831-447D-933B-54B0D9C72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3436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9B7CFF"/>
                </a:solidFill>
              </a:defRPr>
            </a:pPr>
            <a:r>
              <a:rPr sz="975" b="1">
                <a:solidFill>
                  <a:srgbClr val="9B7CFF"/>
                </a:solidFill>
              </a:rPr>
              <a:t>Loadtest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925FC8-30F6-4EA3-9468-5F9178A97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B7CFF"/>
                </a:solidFill>
              </a:defRPr>
            </a:pPr>
            <a:r>
              <a:rPr sz="975" b="1">
                <a:solidFill>
                  <a:srgbClr val="9B7CFF"/>
                </a:solidFill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765917-A534-44A9-8160-D13798550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19350"/>
            <a:ext cx="1638300" cy="80010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E43F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744921-AB67-40E3-BBD3-BD9947DA1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1447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112D"/>
                </a:solidFill>
              </a:defRPr>
            </a:pPr>
            <a:r>
              <a:rPr sz="1125" b="1">
                <a:solidFill>
                  <a:srgbClr val="17112D"/>
                </a:solidFill>
              </a:rPr>
              <a:t>Synthetic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3BF809-F89C-4D60-BA57-97F1D6377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29000"/>
            <a:ext cx="1790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C647E"/>
                </a:solidFill>
              </a:defRPr>
            </a:pPr>
            <a:r>
              <a:rPr sz="1050" b="0">
                <a:solidFill>
                  <a:srgbClr val="6C647E"/>
                </a:solidFill>
              </a:rPr>
              <a:t>핵심 예매 시나리오 자동 검증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03E01D-A401-408D-8208-6DA3355D3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819400"/>
            <a:ext cx="43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B7C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3D7F6A-99A7-456F-96B1-052F85436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419350"/>
            <a:ext cx="1638300" cy="80010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E43F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CF449F-B93B-460C-9FD2-2397002A5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1447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112D"/>
                </a:solidFill>
              </a:defRPr>
            </a:pPr>
            <a:r>
              <a:rPr sz="1125" b="1">
                <a:solidFill>
                  <a:srgbClr val="17112D"/>
                </a:solidFill>
              </a:rPr>
              <a:t>API Benchmark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F55B44-EB41-43FC-B339-DE7053FD3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429000"/>
            <a:ext cx="1790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C647E"/>
                </a:solidFill>
              </a:defRPr>
            </a:pPr>
            <a:r>
              <a:rPr sz="1050" b="0">
                <a:solidFill>
                  <a:srgbClr val="6C647E"/>
                </a:solidFill>
              </a:rPr>
              <a:t>API 자체 p50/p95/p99와 error rate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4183F8-B882-46FB-B109-138C9C9F1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819400"/>
            <a:ext cx="43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B7C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2C0E28-7824-4E11-969E-C7834B4C5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419350"/>
            <a:ext cx="1638300" cy="80010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E43F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104340-1B3E-4E3A-88CD-7375EC418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571750"/>
            <a:ext cx="1447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112D"/>
                </a:solidFill>
              </a:defRPr>
            </a:pPr>
            <a:r>
              <a:rPr sz="1125" b="1">
                <a:solidFill>
                  <a:srgbClr val="17112D"/>
                </a:solidFill>
              </a:rPr>
              <a:t>안정 처리량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838075-F73A-457D-8158-60D9314AC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429000"/>
            <a:ext cx="1790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C647E"/>
                </a:solidFill>
              </a:defRPr>
            </a:pPr>
            <a:r>
              <a:rPr sz="1050" b="0">
                <a:solidFill>
                  <a:srgbClr val="6C647E"/>
                </a:solidFill>
              </a:rPr>
              <a:t>CPU 1000m Pod 1개 기준 RPS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9162D4-13B3-405E-9A9C-F91BBEE6B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19400"/>
            <a:ext cx="43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B7C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B879F1-3CA7-4B61-8B60-989D2ECD9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419350"/>
            <a:ext cx="1638300" cy="80010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08A2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3E00F8-2A41-4A17-81E9-11A8EF3AD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571750"/>
            <a:ext cx="1447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112D"/>
                </a:solidFill>
              </a:defRPr>
            </a:pPr>
            <a:r>
              <a:rPr sz="1125" b="1">
                <a:solidFill>
                  <a:srgbClr val="17112D"/>
                </a:solidFill>
              </a:rPr>
              <a:t>HPA Test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049CD5-7320-492C-A893-267AC8A23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429000"/>
            <a:ext cx="1790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C647E"/>
                </a:solidFill>
              </a:defRPr>
            </a:pPr>
            <a:r>
              <a:rPr sz="1050" b="0">
                <a:solidFill>
                  <a:srgbClr val="6C647E"/>
                </a:solidFill>
              </a:rPr>
              <a:t>scale-out과 SLO 회복 확인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2AD3EE-C97A-4CCA-BF14-A4920655C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819400"/>
            <a:ext cx="43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B7C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960204-506F-4672-94C0-E3CF4FB6F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419350"/>
            <a:ext cx="1638300" cy="80010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E43F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397F1C-825B-4870-8AEC-E5D82C764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571750"/>
            <a:ext cx="1447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112D"/>
                </a:solidFill>
              </a:defRPr>
            </a:pPr>
            <a:r>
              <a:rPr sz="1125" b="1">
                <a:solidFill>
                  <a:srgbClr val="17112D"/>
                </a:solidFill>
              </a:rPr>
              <a:t>Trouble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DC7D4C-067F-4032-BDFA-B74850A07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429000"/>
            <a:ext cx="1790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C647E"/>
                </a:solidFill>
              </a:defRPr>
            </a:pPr>
            <a:r>
              <a:rPr sz="1050" b="0">
                <a:solidFill>
                  <a:srgbClr val="6C647E"/>
                </a:solidFill>
              </a:rPr>
              <a:t>문제 사례와 다음 설계 방향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A1F00B5-4410-48C2-AB1C-CC6980846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762500"/>
            <a:ext cx="8572500" cy="819150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F7F3FF"/>
          </a:solidFill>
          <a:ln xmlns:a="http://schemas.openxmlformats.org/drawingml/2006/main" w="9525">
            <a:solidFill>
              <a:srgbClr val="9B7C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6C0623-456B-4C18-9D04-02CCC0927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933950"/>
            <a:ext cx="815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E43F3"/>
                </a:solidFill>
              </a:defRPr>
            </a:pPr>
            <a:r>
              <a:rPr sz="1500" b="1">
                <a:solidFill>
                  <a:srgbClr val="6E43F3"/>
                </a:solidFill>
              </a:rPr>
              <a:t>발표 원칙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3DD855F-4381-4350-911A-D3805300C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295900"/>
            <a:ext cx="8153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C647E"/>
                </a:solidFill>
              </a:defRPr>
            </a:pPr>
            <a:r>
              <a:rPr sz="1125" b="0">
                <a:solidFill>
                  <a:srgbClr val="6C647E"/>
                </a:solidFill>
              </a:rPr>
              <a:t>결과 수치를 먼저 보여주고, 그 수치가 다음 실험 기준으로 어떻게 이어졌는지 설명한다.</a:t>
            </a:r>
          </a:p>
        </p:txBody>
      </p:sp>
    </p:spTree>
    <p:extLst>
      <p:ext uri="{BB962C8B-B14F-4D97-AF65-F5344CB8AC3E}">
        <p14:creationId xmlns:p14="http://schemas.microsoft.com/office/powerpoint/2010/main" val="167873073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4856928-EF14-4979-AA2D-2120EA04F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43F3"/>
          </a:solidFill>
          <a:ln xmlns:a="http://schemas.openxmlformats.org/drawingml/2006/main" w="0">
            <a:solidFill>
              <a:srgbClr val="6E43F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46EC44-8548-4AC1-8CCE-176A45C52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242887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E43F3"/>
          </a:solidFill>
          <a:ln xmlns:a="http://schemas.openxmlformats.org/drawingml/2006/main" w="0">
            <a:solidFill>
              <a:srgbClr val="6E43F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09. Synthetic 테스트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1ADD50-E13A-4DA9-A5EA-65A33143E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6E43F3"/>
                </a:solidFill>
              </a:defRPr>
            </a:pPr>
            <a:r>
              <a:rPr sz="2550" b="1">
                <a:solidFill>
                  <a:srgbClr val="6E43F3"/>
                </a:solidFill>
              </a:rPr>
              <a:t>Synthetic은 “서비스가 살아 있는가”를 확인한다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A35E06-6F75-421A-8558-7506F0674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0"/>
            <a:ext cx="9144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E43F3"/>
          </a:solidFill>
          <a:ln xmlns:a="http://schemas.openxmlformats.org/drawingml/2006/main" w="0">
            <a:solidFill>
              <a:srgbClr val="6E43F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티켓몽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C5DE2E-A416-41B6-9FE7-7C172A5D9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3436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9B7CFF"/>
                </a:solidFill>
              </a:defRPr>
            </a:pPr>
            <a:r>
              <a:rPr sz="975" b="1">
                <a:solidFill>
                  <a:srgbClr val="9B7CFF"/>
                </a:solidFill>
              </a:rPr>
              <a:t>Loadtest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F6C092-78A3-4B8E-BA99-DFA5A48C7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B7CFF"/>
                </a:solidFill>
              </a:defRPr>
            </a:pPr>
            <a:r>
              <a:rPr sz="975" b="1">
                <a:solidFill>
                  <a:srgbClr val="9B7CFF"/>
                </a:solidFill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127897-F617-45D8-836A-1AADD33A8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3429000" cy="1571625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7DCE34-987E-4E41-8FA2-982F0AE08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81200"/>
            <a:ext cx="300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E43F3"/>
                </a:solidFill>
              </a:defRPr>
            </a:pPr>
            <a:r>
              <a:rPr sz="1500" b="1">
                <a:solidFill>
                  <a:srgbClr val="6E43F3"/>
                </a:solidFill>
              </a:rPr>
              <a:t>목적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1A78A0-8705-4D3A-9FA1-F5FD34CE3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43150"/>
            <a:ext cx="30099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C647E"/>
                </a:solidFill>
              </a:defRPr>
            </a:pPr>
            <a:r>
              <a:rPr sz="1125" b="0">
                <a:solidFill>
                  <a:srgbClr val="6C647E"/>
                </a:solidFill>
              </a:rPr>
              <a:t>낮은 트래픽에서 핵심 예매 시나리오가 자동으로 통과하는지 확인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77586C-A339-453D-BFF2-85EA349EB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809750"/>
            <a:ext cx="3429000" cy="1571625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86FAA8-F77C-4BD0-B469-CB5679F48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981200"/>
            <a:ext cx="300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B6DEB"/>
                </a:solidFill>
              </a:defRPr>
            </a:pPr>
            <a:r>
              <a:rPr sz="1500" b="1">
                <a:solidFill>
                  <a:srgbClr val="2B6DEB"/>
                </a:solidFill>
              </a:rPr>
              <a:t>의미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E4D745-54B0-4836-831B-7174DA70F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343150"/>
            <a:ext cx="30099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C647E"/>
                </a:solidFill>
              </a:defRPr>
            </a:pPr>
            <a:r>
              <a:rPr sz="1125" b="0">
                <a:solidFill>
                  <a:srgbClr val="6C647E"/>
                </a:solidFill>
              </a:rPr>
              <a:t>부하 한계 측정이 아니라 배포 후 기본 동작과 trace/log 연동을 검증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C55B24-216C-490C-AEA0-853DE824E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09750"/>
            <a:ext cx="3429000" cy="1571625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5573C9-0256-480D-9614-95B18DC13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981200"/>
            <a:ext cx="300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9F7A"/>
                </a:solidFill>
              </a:defRPr>
            </a:pPr>
            <a:r>
              <a:rPr sz="1500" b="1">
                <a:solidFill>
                  <a:srgbClr val="0F9F7A"/>
                </a:solidFill>
              </a:rPr>
              <a:t>다음 단계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452E5E-DD4F-4154-9D57-50E595ECA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343150"/>
            <a:ext cx="30099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C647E"/>
                </a:solidFill>
              </a:defRPr>
            </a:pPr>
            <a:r>
              <a:rPr sz="1125" b="0">
                <a:solidFill>
                  <a:srgbClr val="6C647E"/>
                </a:solidFill>
              </a:rPr>
              <a:t>성공/실패만으로는 병목을 설명하기 어려워 API benchmark로 넘어감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BB1EA1-B853-40A3-B7C9-17CA032DC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343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43F3"/>
          </a:solidFill>
          <a:ln xmlns:a="http://schemas.openxmlformats.org/drawingml/2006/main" w="0">
            <a:solidFill>
              <a:srgbClr val="6E43F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7A2FE7-54BF-4DA0-B130-131696792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267200"/>
            <a:ext cx="8343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112D"/>
                </a:solidFill>
              </a:defRPr>
            </a:pPr>
            <a:r>
              <a:rPr sz="1350" b="0">
                <a:solidFill>
                  <a:srgbClr val="17112D"/>
                </a:solidFill>
              </a:rPr>
              <a:t>정상 예매 경로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86C94B-0120-4EDE-BA69-4F2802BAF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43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43F3"/>
          </a:solidFill>
          <a:ln xmlns:a="http://schemas.openxmlformats.org/drawingml/2006/main" w="0">
            <a:solidFill>
              <a:srgbClr val="6E43F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131662-C0C8-4C9A-B44E-BF708B326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667250"/>
            <a:ext cx="8343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112D"/>
                </a:solidFill>
              </a:defRPr>
            </a:pPr>
            <a:r>
              <a:rPr sz="1350" b="0">
                <a:solidFill>
                  <a:srgbClr val="17112D"/>
                </a:solidFill>
              </a:rPr>
              <a:t>trace id 전파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BDC4FB-5150-4D61-90CE-CBBCF5815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143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43F3"/>
          </a:solidFill>
          <a:ln xmlns:a="http://schemas.openxmlformats.org/drawingml/2006/main" w="0">
            <a:solidFill>
              <a:srgbClr val="6E43F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14E588-6A42-4D99-8A36-690B16792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067300"/>
            <a:ext cx="8343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112D"/>
                </a:solidFill>
              </a:defRPr>
            </a:pPr>
            <a:r>
              <a:rPr sz="1350" b="0">
                <a:solidFill>
                  <a:srgbClr val="17112D"/>
                </a:solidFill>
              </a:rPr>
              <a:t>기본 로그 검색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035C33-3A6D-4731-B977-05DB3B516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543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43F3"/>
          </a:solidFill>
          <a:ln xmlns:a="http://schemas.openxmlformats.org/drawingml/2006/main" w="0">
            <a:solidFill>
              <a:srgbClr val="6E43F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F521C1-E880-4B78-B35E-D5B8E83EF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467350"/>
            <a:ext cx="8343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112D"/>
                </a:solidFill>
              </a:defRPr>
            </a:pPr>
            <a:r>
              <a:rPr sz="1350" b="0">
                <a:solidFill>
                  <a:srgbClr val="17112D"/>
                </a:solidFill>
              </a:rPr>
              <a:t>낮은 트래픽 회귀 검증</a:t>
            </a:r>
          </a:p>
        </p:txBody>
      </p:sp>
    </p:spTree>
    <p:extLst>
      <p:ext uri="{BB962C8B-B14F-4D97-AF65-F5344CB8AC3E}">
        <p14:creationId xmlns:p14="http://schemas.microsoft.com/office/powerpoint/2010/main" val="66836615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A4A0375-F479-47E5-8A81-DE2CDE8F5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43F3"/>
          </a:solidFill>
          <a:ln xmlns:a="http://schemas.openxmlformats.org/drawingml/2006/main" w="0">
            <a:solidFill>
              <a:srgbClr val="6E43F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88359F-E793-44FF-9CF0-41746CF28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214312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E43F3"/>
          </a:solidFill>
          <a:ln xmlns:a="http://schemas.openxmlformats.org/drawingml/2006/main" w="0">
            <a:solidFill>
              <a:srgbClr val="6E43F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10. 실험 가정과 데이터셋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0AB810-DD3C-4F78-AC35-387535A39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6E43F3"/>
                </a:solidFill>
              </a:defRPr>
            </a:pPr>
            <a:r>
              <a:rPr sz="2550" b="1">
                <a:solidFill>
                  <a:srgbClr val="6E43F3"/>
                </a:solidFill>
              </a:rPr>
              <a:t>운영 초기 180일 규모를 데이터셋으로 가정했다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E239D2-6E65-446E-95C1-A94C46176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0"/>
            <a:ext cx="9144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E43F3"/>
          </a:solidFill>
          <a:ln xmlns:a="http://schemas.openxmlformats.org/drawingml/2006/main" w="0">
            <a:solidFill>
              <a:srgbClr val="6E43F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티켓몽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135BB5-7C0F-407C-82EE-720B3F5B6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3436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9B7CFF"/>
                </a:solidFill>
              </a:defRPr>
            </a:pPr>
            <a:r>
              <a:rPr sz="975" b="1">
                <a:solidFill>
                  <a:srgbClr val="9B7CFF"/>
                </a:solidFill>
              </a:rPr>
              <a:t>Loadtest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A4B5D6-2A43-43CC-B31C-7326C938A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B7CFF"/>
                </a:solidFill>
              </a:defRPr>
            </a:pPr>
            <a:r>
              <a:rPr sz="975" b="1">
                <a:solidFill>
                  <a:srgbClr val="9B7CFF"/>
                </a:solidFill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5650D1-26B5-4D86-80A9-103AA31E8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2952750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4559CC-4BA1-4B8E-83AF-652D30994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66900"/>
            <a:ext cx="2609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C647E"/>
                </a:solidFill>
              </a:defRPr>
            </a:pPr>
            <a:r>
              <a:rPr sz="1050" b="1">
                <a:solidFill>
                  <a:srgbClr val="6C647E"/>
                </a:solidFill>
              </a:rPr>
              <a:t>사용자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48E10F-5765-4407-A24B-C916FDF6B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14550"/>
            <a:ext cx="2609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6E43F3"/>
                </a:solidFill>
              </a:defRPr>
            </a:pPr>
            <a:r>
              <a:rPr sz="2250" b="1">
                <a:solidFill>
                  <a:srgbClr val="6E43F3"/>
                </a:solidFill>
              </a:rPr>
              <a:t>100k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AE8ECF-0665-4F04-9297-7161780B1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14600"/>
            <a:ext cx="2609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C647E"/>
                </a:solidFill>
              </a:defRPr>
            </a:pPr>
            <a:r>
              <a:rPr sz="975" b="0">
                <a:solidFill>
                  <a:srgbClr val="6C647E"/>
                </a:solidFill>
              </a:rPr>
              <a:t>half-year early-growth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0BBFB3-A1E5-4921-8C4D-4A6FF3C7D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714500"/>
            <a:ext cx="2952750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A89CC1-39AD-4FB8-8E49-22B8927B0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866900"/>
            <a:ext cx="2609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C647E"/>
                </a:solidFill>
              </a:defRPr>
            </a:pPr>
            <a:r>
              <a:rPr sz="1050" b="1">
                <a:solidFill>
                  <a:srgbClr val="6C647E"/>
                </a:solidFill>
              </a:rPr>
              <a:t>공연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A9055B-396D-4858-95F1-CA2212680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114550"/>
            <a:ext cx="2609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B6DEB"/>
                </a:solidFill>
              </a:defRPr>
            </a:pPr>
            <a:r>
              <a:rPr sz="2250" b="1">
                <a:solidFill>
                  <a:srgbClr val="2B6DEB"/>
                </a:solidFill>
              </a:rPr>
              <a:t>270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986970-D6B7-4AA6-94F1-24B19B901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514600"/>
            <a:ext cx="2609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C647E"/>
                </a:solidFill>
              </a:defRPr>
            </a:pPr>
            <a:r>
              <a:rPr sz="975" b="0">
                <a:solidFill>
                  <a:srgbClr val="6C647E"/>
                </a:solidFill>
              </a:rPr>
              <a:t>half-year early-growth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E73D6E-8077-46C5-8C43-5513A95DA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714500"/>
            <a:ext cx="2952750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108AF6-8FE2-4709-BA3E-03F15741A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866900"/>
            <a:ext cx="2609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C647E"/>
                </a:solidFill>
              </a:defRPr>
            </a:pPr>
            <a:r>
              <a:rPr sz="1050" b="1">
                <a:solidFill>
                  <a:srgbClr val="6C647E"/>
                </a:solidFill>
              </a:rPr>
              <a:t>좌석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E01EE3-F642-40B5-88EC-E23078247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14550"/>
            <a:ext cx="2609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6E43F3"/>
                </a:solidFill>
              </a:defRPr>
            </a:pPr>
            <a:r>
              <a:rPr sz="2250" b="1">
                <a:solidFill>
                  <a:srgbClr val="6E43F3"/>
                </a:solidFill>
              </a:rPr>
              <a:t>567k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260DEC-DEDD-4001-84CC-A0BE20D2C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514600"/>
            <a:ext cx="2609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C647E"/>
                </a:solidFill>
              </a:defRPr>
            </a:pPr>
            <a:r>
              <a:rPr sz="975" b="0">
                <a:solidFill>
                  <a:srgbClr val="6C647E"/>
                </a:solidFill>
              </a:rPr>
              <a:t>half-year early-growth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1D214C-3B7B-428F-83EC-F28397EEA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2952750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6BFC2A-2E66-44F9-8991-171B2A043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609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C647E"/>
                </a:solidFill>
              </a:defRPr>
            </a:pPr>
            <a:r>
              <a:rPr sz="1050" b="1">
                <a:solidFill>
                  <a:srgbClr val="6C647E"/>
                </a:solidFill>
              </a:rPr>
              <a:t>예약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505626-9CAF-4745-92A3-FC0508FE0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43300"/>
            <a:ext cx="2609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B6DEB"/>
                </a:solidFill>
              </a:defRPr>
            </a:pPr>
            <a:r>
              <a:rPr sz="2250" b="1">
                <a:solidFill>
                  <a:srgbClr val="2B6DEB"/>
                </a:solidFill>
              </a:rPr>
              <a:t>261k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0B213B-2593-4233-BE1A-288491932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43350"/>
            <a:ext cx="2609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C647E"/>
                </a:solidFill>
              </a:defRPr>
            </a:pPr>
            <a:r>
              <a:rPr sz="975" b="0">
                <a:solidFill>
                  <a:srgbClr val="6C647E"/>
                </a:solidFill>
              </a:rPr>
              <a:t>half-year early-growth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CBB3E8-853F-477B-8B73-06FFEEEB2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143250"/>
            <a:ext cx="2952750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FD633C-3EE6-4079-A859-99DBA1094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295650"/>
            <a:ext cx="2609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C647E"/>
                </a:solidFill>
              </a:defRPr>
            </a:pPr>
            <a:r>
              <a:rPr sz="1050" b="1">
                <a:solidFill>
                  <a:srgbClr val="6C647E"/>
                </a:solidFill>
              </a:rPr>
              <a:t>결제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2A61D4-C0B5-4BD8-B21A-767FB67D5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543300"/>
            <a:ext cx="2609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6E43F3"/>
                </a:solidFill>
              </a:defRPr>
            </a:pPr>
            <a:r>
              <a:rPr sz="2250" b="1">
                <a:solidFill>
                  <a:srgbClr val="6E43F3"/>
                </a:solidFill>
              </a:rPr>
              <a:t>184k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946EED-9BD1-4D11-B78C-5DDCC338F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943350"/>
            <a:ext cx="2609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C647E"/>
                </a:solidFill>
              </a:defRPr>
            </a:pPr>
            <a:r>
              <a:rPr sz="975" b="0">
                <a:solidFill>
                  <a:srgbClr val="6C647E"/>
                </a:solidFill>
              </a:rPr>
              <a:t>half-year early-growth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965B92A-D4F9-4F79-A9C8-80AB24812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143250"/>
            <a:ext cx="2952750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CCE5DD9-DEDB-48AC-AFFF-C6A7BA4D4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2609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C647E"/>
                </a:solidFill>
              </a:defRPr>
            </a:pPr>
            <a:r>
              <a:rPr sz="1050" b="1">
                <a:solidFill>
                  <a:srgbClr val="6C647E"/>
                </a:solidFill>
              </a:rPr>
              <a:t>알림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BF641E0-144D-427D-8BB0-6E5DF2354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543300"/>
            <a:ext cx="2609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B6DEB"/>
                </a:solidFill>
              </a:defRPr>
            </a:pPr>
            <a:r>
              <a:rPr sz="2250" b="1">
                <a:solidFill>
                  <a:srgbClr val="2B6DEB"/>
                </a:solidFill>
              </a:rPr>
              <a:t>354k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254097D-EA79-4BC6-B6F0-5C9BEB340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943350"/>
            <a:ext cx="2609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C647E"/>
                </a:solidFill>
              </a:defRPr>
            </a:pPr>
            <a:r>
              <a:rPr sz="975" b="0">
                <a:solidFill>
                  <a:srgbClr val="6C647E"/>
                </a:solidFill>
              </a:rPr>
              <a:t>half-year early-growth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1CFDD88-9155-46CA-A6D7-8DF6D0455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05375"/>
            <a:ext cx="9906000" cy="819150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FFF8EF"/>
          </a:solidFill>
          <a:ln xmlns:a="http://schemas.openxmlformats.org/drawingml/2006/main" w="9525">
            <a:solidFill>
              <a:srgbClr val="FFD5A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65E1957-649A-4F4C-86A1-D6021B86F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76825"/>
            <a:ext cx="948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08A24"/>
                </a:solidFill>
              </a:defRPr>
            </a:pPr>
            <a:r>
              <a:rPr sz="1500" b="1">
                <a:solidFill>
                  <a:srgbClr val="F08A24"/>
                </a:solidFill>
              </a:rPr>
              <a:t>해석 기준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C8700FA-2F06-4D2C-830B-FFA8AF7E6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438775"/>
            <a:ext cx="9486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C647E"/>
                </a:solidFill>
              </a:defRPr>
            </a:pPr>
            <a:r>
              <a:rPr sz="1125" b="0">
                <a:solidFill>
                  <a:srgbClr val="6C647E"/>
                </a:solidFill>
              </a:rPr>
              <a:t>동시접속 모델이 아니라, DB에 데이터가 누적된 상태에서 API 처리 비용이 어떻게 달라지는지 보기 위한 기준이다.</a:t>
            </a:r>
          </a:p>
        </p:txBody>
      </p:sp>
    </p:spTree>
    <p:extLst>
      <p:ext uri="{BB962C8B-B14F-4D97-AF65-F5344CB8AC3E}">
        <p14:creationId xmlns:p14="http://schemas.microsoft.com/office/powerpoint/2010/main" val="81204810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B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F1F75B0-7649-4E08-9404-3119D4B15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43F3"/>
          </a:solidFill>
          <a:ln xmlns:a="http://schemas.openxmlformats.org/drawingml/2006/main" w="0">
            <a:solidFill>
              <a:srgbClr val="6E43F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035706-B730-4BEC-8AF0-960F8510A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2857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E43F3"/>
          </a:solidFill>
          <a:ln xmlns:a="http://schemas.openxmlformats.org/drawingml/2006/main" w="0">
            <a:solidFill>
              <a:srgbClr val="6E43F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11. API Benchmark 결과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6DEEC1-AAE8-459C-BE4F-5D3417ABF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6E43F3"/>
                </a:solidFill>
              </a:defRPr>
            </a:pPr>
            <a:r>
              <a:rPr sz="2550" b="1">
                <a:solidFill>
                  <a:srgbClr val="6E43F3"/>
                </a:solidFill>
              </a:rPr>
              <a:t>API 순수 벤치마크: p95/p99로 SLO 후보를 잡았다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DA86FE-0DC8-4D33-8021-A8146C546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0"/>
            <a:ext cx="9144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E43F3"/>
          </a:solidFill>
          <a:ln xmlns:a="http://schemas.openxmlformats.org/drawingml/2006/main" w="0">
            <a:solidFill>
              <a:srgbClr val="6E43F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티켓몽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655C5A-084E-40FC-98EF-7F9BFB4F3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3436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9B7CFF"/>
                </a:solidFill>
              </a:defRPr>
            </a:pPr>
            <a:r>
              <a:rPr sz="975" b="1">
                <a:solidFill>
                  <a:srgbClr val="9B7CFF"/>
                </a:solidFill>
              </a:rPr>
              <a:t>Loadtest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35AA70-4E3D-4593-888B-5912D30D3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B7CFF"/>
                </a:solidFill>
              </a:defRPr>
            </a:pPr>
            <a:r>
              <a:rPr sz="975" b="1">
                <a:solidFill>
                  <a:srgbClr val="9B7CFF"/>
                </a:solidFill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12346C-F0E8-4762-B94B-27494EAE1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5905500" cy="31432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graphicFrame>
        <p:nvGraphicFramePr>
          <p:cNvPr id="65" name="Chart"/>
          <p:cNvGraphicFramePr/>
          <p:nvPr/>
        </p:nvGraphicFramePr>
        <p:xfrm>
          <a:off xmlns:a="http://schemas.openxmlformats.org/drawingml/2006/main" x="1028700" y="2114550"/>
          <a:ext xmlns:a="http://schemas.openxmlformats.org/drawingml/2006/main" cx="5219700" cy="23241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bdaf230278f4e74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938642-694F-4CE2-9930-D09DD7E17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828800"/>
            <a:ext cx="109189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43F3"/>
          </a:solidFill>
          <a:ln xmlns:a="http://schemas.openxmlformats.org/drawingml/2006/main" w="9525">
            <a:solidFill>
              <a:srgbClr val="D8CC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FAE3CB-BE13-4BFD-BF66-B2B70D29D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905000"/>
            <a:ext cx="90139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Service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FF034D-30DC-45D8-831A-F7C2F3AF3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140" y="1828800"/>
            <a:ext cx="163783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43F3"/>
          </a:solidFill>
          <a:ln xmlns:a="http://schemas.openxmlformats.org/drawingml/2006/main" w="9525">
            <a:solidFill>
              <a:srgbClr val="D8CC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5789E3-C499-4BB9-AED9-99AEF1C7A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390" y="1905000"/>
            <a:ext cx="144733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대표 API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AB9224-B4CB-4D4D-A0B2-B2C8387A1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2976" y="1828800"/>
            <a:ext cx="873512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43F3"/>
          </a:solidFill>
          <a:ln xmlns:a="http://schemas.openxmlformats.org/drawingml/2006/main" w="9525">
            <a:solidFill>
              <a:srgbClr val="D8CC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F45AE5-8BA3-4E2B-AC69-B693156D3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8226" y="1905000"/>
            <a:ext cx="683012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p95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BD8286-DA39-4F1B-B84D-3AE3B99BD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6488" y="1828800"/>
            <a:ext cx="873512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43F3"/>
          </a:solidFill>
          <a:ln xmlns:a="http://schemas.openxmlformats.org/drawingml/2006/main" w="9525">
            <a:solidFill>
              <a:srgbClr val="D8CC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AEEA93-200A-4F21-856A-56FE69D0B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1738" y="1905000"/>
            <a:ext cx="683012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p99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6C1F9B-259E-455C-92D0-20FFA3342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286000"/>
            <a:ext cx="109189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FF"/>
          </a:solidFill>
          <a:ln xmlns:a="http://schemas.openxmlformats.org/drawingml/2006/main" w="9525">
            <a:solidFill>
              <a:srgbClr val="D8CC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F45E6D-D02E-4FDE-9EAE-121B1BF8D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362200"/>
            <a:ext cx="90139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7112D"/>
                </a:solidFill>
              </a:defRPr>
            </a:pPr>
            <a:r>
              <a:rPr sz="975" b="0">
                <a:solidFill>
                  <a:srgbClr val="17112D"/>
                </a:solidFill>
              </a:rPr>
              <a:t>auth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015314-0373-40C6-BF57-0F40C6A81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140" y="2286000"/>
            <a:ext cx="163783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FF"/>
          </a:solidFill>
          <a:ln xmlns:a="http://schemas.openxmlformats.org/drawingml/2006/main" w="9525">
            <a:solidFill>
              <a:srgbClr val="D8CC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5215C1-1F5D-4581-8BC1-F9122AE25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390" y="2362200"/>
            <a:ext cx="144733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7112D"/>
                </a:solidFill>
              </a:defRPr>
            </a:pPr>
            <a:r>
              <a:rPr sz="975" b="0">
                <a:solidFill>
                  <a:srgbClr val="17112D"/>
                </a:solidFill>
              </a:rPr>
              <a:t>login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B38ED7-76B1-4F03-8464-B339660A2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2976" y="2286000"/>
            <a:ext cx="873512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FF"/>
          </a:solidFill>
          <a:ln xmlns:a="http://schemas.openxmlformats.org/drawingml/2006/main" w="9525">
            <a:solidFill>
              <a:srgbClr val="D8CC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7B9E33-4E85-4F7A-A387-01F50B4C5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8226" y="2362200"/>
            <a:ext cx="683012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7112D"/>
                </a:solidFill>
              </a:defRPr>
            </a:pPr>
            <a:r>
              <a:rPr sz="975" b="0">
                <a:solidFill>
                  <a:srgbClr val="17112D"/>
                </a:solidFill>
              </a:rPr>
              <a:t>65.1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5FB161-655A-4F84-B53B-717EC060C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6488" y="2286000"/>
            <a:ext cx="873512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FF"/>
          </a:solidFill>
          <a:ln xmlns:a="http://schemas.openxmlformats.org/drawingml/2006/main" w="9525">
            <a:solidFill>
              <a:srgbClr val="D8CC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001212-1C5F-4EFE-AC1D-237CC08C2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1738" y="2362200"/>
            <a:ext cx="683012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7112D"/>
                </a:solidFill>
              </a:defRPr>
            </a:pPr>
            <a:r>
              <a:rPr sz="975" b="0">
                <a:solidFill>
                  <a:srgbClr val="17112D"/>
                </a:solidFill>
              </a:rPr>
              <a:t>102.9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F369FE-3574-44DC-AE9E-56041CDE5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743200"/>
            <a:ext cx="109189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7BEAA3-C89D-4E89-BF33-01E2F6DC0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819400"/>
            <a:ext cx="90139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7112D"/>
                </a:solidFill>
              </a:defRPr>
            </a:pPr>
            <a:r>
              <a:rPr sz="975" b="0">
                <a:solidFill>
                  <a:srgbClr val="17112D"/>
                </a:solidFill>
              </a:rPr>
              <a:t>concert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4DD29A9-C691-44C3-9422-54ABBF2CE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140" y="2743200"/>
            <a:ext cx="163783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D9FED8-3C41-45B8-8E55-58DE728C4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390" y="2819400"/>
            <a:ext cx="144733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7112D"/>
                </a:solidFill>
              </a:defRPr>
            </a:pPr>
            <a:r>
              <a:rPr sz="975" b="0">
                <a:solidFill>
                  <a:srgbClr val="17112D"/>
                </a:solidFill>
              </a:rPr>
              <a:t>seat-map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540AEEB-701D-4323-B7E0-D99B70D5D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2976" y="2743200"/>
            <a:ext cx="873512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995452C-CC64-4BEE-AEA1-F95889687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8226" y="2819400"/>
            <a:ext cx="683012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7112D"/>
                </a:solidFill>
              </a:defRPr>
            </a:pPr>
            <a:r>
              <a:rPr sz="975" b="0">
                <a:solidFill>
                  <a:srgbClr val="17112D"/>
                </a:solidFill>
              </a:rPr>
              <a:t>39.7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C31B152-ED38-4A71-93C6-9695E2914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6488" y="2743200"/>
            <a:ext cx="873512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485E571-D4B2-4634-9646-A7ABC79D0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1738" y="2819400"/>
            <a:ext cx="683012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7112D"/>
                </a:solidFill>
              </a:defRPr>
            </a:pPr>
            <a:r>
              <a:rPr sz="975" b="0">
                <a:solidFill>
                  <a:srgbClr val="17112D"/>
                </a:solidFill>
              </a:rPr>
              <a:t>57.8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AB5212C-6967-4F6A-BD2C-895E3F12E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200400"/>
            <a:ext cx="109189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FF"/>
          </a:solidFill>
          <a:ln xmlns:a="http://schemas.openxmlformats.org/drawingml/2006/main" w="9525">
            <a:solidFill>
              <a:srgbClr val="D8CC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4C954EE-2019-40B2-B830-47FF43B9C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276600"/>
            <a:ext cx="90139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7112D"/>
                </a:solidFill>
              </a:defRPr>
            </a:pPr>
            <a:r>
              <a:rPr sz="975" b="0">
                <a:solidFill>
                  <a:srgbClr val="17112D"/>
                </a:solidFill>
              </a:rPr>
              <a:t>reservation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F8B3AA4-981A-4C57-90BA-E4CAF03C4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140" y="3200400"/>
            <a:ext cx="163783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FF"/>
          </a:solidFill>
          <a:ln xmlns:a="http://schemas.openxmlformats.org/drawingml/2006/main" w="9525">
            <a:solidFill>
              <a:srgbClr val="D8CC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544783B-8E25-4EEE-BBA2-358296DC3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390" y="3276600"/>
            <a:ext cx="144733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7112D"/>
                </a:solidFill>
              </a:defRPr>
            </a:pPr>
            <a:r>
              <a:rPr sz="975" b="0">
                <a:solidFill>
                  <a:srgbClr val="17112D"/>
                </a:solidFill>
              </a:rPr>
              <a:t>create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8C776EC-906B-4B30-99C7-00E019BD7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2976" y="3200400"/>
            <a:ext cx="873512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FF"/>
          </a:solidFill>
          <a:ln xmlns:a="http://schemas.openxmlformats.org/drawingml/2006/main" w="9525">
            <a:solidFill>
              <a:srgbClr val="D8CCF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3A9B01F-DB52-4F52-A6AF-107838DB4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8226" y="3276600"/>
            <a:ext cx="683012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7112D"/>
                </a:solidFill>
              </a:defRPr>
            </a:pPr>
            <a:r>
              <a:rPr sz="975" b="0">
                <a:solidFill>
                  <a:srgbClr val="17112D"/>
                </a:solidFill>
              </a:rPr>
              <a:t>7.4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744DF9F-2934-4F01-8A4B-8EC6D5F6F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6488" y="3200400"/>
            <a:ext cx="873512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FF"/>
          </a:solidFill>
          <a:ln xmlns:a="http://schemas.openxmlformats.org/drawingml/2006/main" w="9525">
            <a:solidFill>
              <a:srgbClr val="D8CCF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E059A87-61D8-483F-B443-5A93AFEE3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1738" y="3276600"/>
            <a:ext cx="683012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7112D"/>
                </a:solidFill>
              </a:defRPr>
            </a:pPr>
            <a:r>
              <a:rPr sz="975" b="0">
                <a:solidFill>
                  <a:srgbClr val="17112D"/>
                </a:solidFill>
              </a:rPr>
              <a:t>11.1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B0B3077-C8A9-4F4C-B5F2-69246819C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657600"/>
            <a:ext cx="109189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F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BDC443B-B966-4A50-8568-984AD2268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733800"/>
            <a:ext cx="90139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7112D"/>
                </a:solidFill>
              </a:defRPr>
            </a:pPr>
            <a:r>
              <a:rPr sz="975" b="0">
                <a:solidFill>
                  <a:srgbClr val="17112D"/>
                </a:solidFill>
              </a:rPr>
              <a:t>payment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5FF8E79-E447-45A1-8525-5FE549AFF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140" y="3657600"/>
            <a:ext cx="163783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C51FE64-0EFE-4491-9DEE-B566EBB52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390" y="3733800"/>
            <a:ext cx="144733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7112D"/>
                </a:solidFill>
              </a:defRPr>
            </a:pPr>
            <a:r>
              <a:rPr sz="975" b="0">
                <a:solidFill>
                  <a:srgbClr val="17112D"/>
                </a:solidFill>
              </a:rPr>
              <a:t>create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CC3AD40-4D01-4AE1-A615-8B07E902B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2976" y="3657600"/>
            <a:ext cx="873512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F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A7D47A7-125E-4A93-98D1-8CCCA4F16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8226" y="3733800"/>
            <a:ext cx="683012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7112D"/>
                </a:solidFill>
              </a:defRPr>
            </a:pPr>
            <a:r>
              <a:rPr sz="975" b="0">
                <a:solidFill>
                  <a:srgbClr val="17112D"/>
                </a:solidFill>
              </a:rPr>
              <a:t>10.2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735CF13-BF73-4913-AF48-8DD502BDC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6488" y="3657600"/>
            <a:ext cx="873512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F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A4BD358-B4D7-4D9D-84B4-57157CEBB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1738" y="3733800"/>
            <a:ext cx="683012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7112D"/>
                </a:solidFill>
              </a:defRPr>
            </a:pPr>
            <a:r>
              <a:rPr sz="975" b="0">
                <a:solidFill>
                  <a:srgbClr val="17112D"/>
                </a:solidFill>
              </a:rPr>
              <a:t>15.5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AB430AB-444F-4C0D-8788-CD36F6BAF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114800"/>
            <a:ext cx="109189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FF"/>
          </a:solidFill>
          <a:ln xmlns:a="http://schemas.openxmlformats.org/drawingml/2006/main" w="9525">
            <a:solidFill>
              <a:srgbClr val="D8CCF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DBDCA49-77B4-4DFC-B4A4-A8515F419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191000"/>
            <a:ext cx="90139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7112D"/>
                </a:solidFill>
              </a:defRPr>
            </a:pPr>
            <a:r>
              <a:rPr sz="975" b="0">
                <a:solidFill>
                  <a:srgbClr val="17112D"/>
                </a:solidFill>
              </a:rPr>
              <a:t>ticket/noti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090EA73-618A-49AE-A27C-79B48326E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140" y="4114800"/>
            <a:ext cx="163783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FF"/>
          </a:solidFill>
          <a:ln xmlns:a="http://schemas.openxmlformats.org/drawingml/2006/main" w="9525">
            <a:solidFill>
              <a:srgbClr val="D8CCFF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58FB8C7-BE8A-491F-8864-AF5A620B4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390" y="4191000"/>
            <a:ext cx="144733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7112D"/>
                </a:solidFill>
              </a:defRPr>
            </a:pPr>
            <a:r>
              <a:rPr sz="975" b="0">
                <a:solidFill>
                  <a:srgbClr val="17112D"/>
                </a:solidFill>
              </a:rPr>
              <a:t>조회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F183797-BE75-4578-8FCC-BB94E3CC9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2976" y="4114800"/>
            <a:ext cx="873512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FF"/>
          </a:solidFill>
          <a:ln xmlns:a="http://schemas.openxmlformats.org/drawingml/2006/main" w="9525">
            <a:solidFill>
              <a:srgbClr val="D8CCFF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2E69805-212B-4C38-906E-F96A5A598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8226" y="4191000"/>
            <a:ext cx="683012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7112D"/>
                </a:solidFill>
              </a:defRPr>
            </a:pPr>
            <a:r>
              <a:rPr sz="975" b="0">
                <a:solidFill>
                  <a:srgbClr val="17112D"/>
                </a:solidFill>
              </a:rPr>
              <a:t>2.9~6.3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7CEF1E0-1E70-4540-9213-3BF869978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6488" y="4114800"/>
            <a:ext cx="873512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FF"/>
          </a:solidFill>
          <a:ln xmlns:a="http://schemas.openxmlformats.org/drawingml/2006/main" w="9525">
            <a:solidFill>
              <a:srgbClr val="D8CCF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522898E-8674-47FE-8E51-9F0413ECF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1738" y="4191000"/>
            <a:ext cx="683012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7112D"/>
                </a:solidFill>
              </a:defRPr>
            </a:pPr>
            <a:r>
              <a:rPr sz="975" b="0">
                <a:solidFill>
                  <a:srgbClr val="17112D"/>
                </a:solidFill>
              </a:rPr>
              <a:t>6.2~7.2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B959AA5-EC7E-421B-B484-04B22FBF7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3875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F9F7A"/>
                </a:solidFill>
              </a:defRPr>
            </a:pPr>
            <a:r>
              <a:rPr sz="1725" b="1">
                <a:solidFill>
                  <a:srgbClr val="0F9F7A"/>
                </a:solidFill>
              </a:rPr>
              <a:t>모든 대표 API error rate 0% / service별 tail latency 차이 확인</a:t>
            </a:r>
          </a:p>
        </p:txBody>
      </p:sp>
    </p:spTree>
    <p:extLst>
      <p:ext uri="{BB962C8B-B14F-4D97-AF65-F5344CB8AC3E}">
        <p14:creationId xmlns:p14="http://schemas.microsoft.com/office/powerpoint/2010/main" val="1138692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B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E3E1F15-2EF7-40E7-BBEE-3D72351DD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43F3"/>
          </a:solidFill>
          <a:ln xmlns:a="http://schemas.openxmlformats.org/drawingml/2006/main" w="0">
            <a:solidFill>
              <a:srgbClr val="6E43F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965E77-FF0D-4E36-8088-6307CF236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2000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E43F3"/>
          </a:solidFill>
          <a:ln xmlns:a="http://schemas.openxmlformats.org/drawingml/2006/main" w="0">
            <a:solidFill>
              <a:srgbClr val="6E43F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11-1. 병목 지점 분석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C0E5BD-0EEE-4701-8E1B-BFBD0F565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6E43F3"/>
                </a:solidFill>
              </a:defRPr>
            </a:pPr>
            <a:r>
              <a:rPr sz="2550" b="1">
                <a:solidFill>
                  <a:srgbClr val="6E43F3"/>
                </a:solidFill>
              </a:rPr>
              <a:t>API Benchmark는 기준치를 만들기 위한 정리 과정이었다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A5E17F-287A-4B63-B671-4ACD12C41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0"/>
            <a:ext cx="9144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E43F3"/>
          </a:solidFill>
          <a:ln xmlns:a="http://schemas.openxmlformats.org/drawingml/2006/main" w="0">
            <a:solidFill>
              <a:srgbClr val="6E43F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티켓몽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D2911D-12C3-4072-AB2F-9404A748B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3436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9B7CFF"/>
                </a:solidFill>
              </a:defRPr>
            </a:pPr>
            <a:r>
              <a:rPr sz="975" b="1">
                <a:solidFill>
                  <a:srgbClr val="9B7CFF"/>
                </a:solidFill>
              </a:rPr>
              <a:t>Loadtest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A28ABA-3C40-4FE0-95DC-737345275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B7CFF"/>
                </a:solidFill>
              </a:defRPr>
            </a:pPr>
            <a:r>
              <a:rPr sz="975" b="1">
                <a:solidFill>
                  <a:srgbClr val="9B7CFF"/>
                </a:solidFill>
              </a:rPr>
              <a:t>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C6268A-205C-4739-AA7B-AFA0534A9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3333750" cy="1333500"/>
          </a:xfrm>
          <a:prstGeom xmlns:a="http://schemas.openxmlformats.org/drawingml/2006/main" prst="roundRect">
            <a:avLst>
              <a:gd name="adj" fmla="val 1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522438-C509-49B1-981B-64417704A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85950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08A24"/>
                </a:solidFill>
              </a:defRPr>
            </a:pPr>
            <a:r>
              <a:rPr sz="1500" b="1">
                <a:solidFill>
                  <a:srgbClr val="F08A24"/>
                </a:solidFill>
              </a:rPr>
              <a:t>auth-service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9388FF-FE9C-465E-B07E-D70261A2A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47900"/>
            <a:ext cx="2914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C647E"/>
                </a:solidFill>
              </a:defRPr>
            </a:pPr>
            <a:r>
              <a:rPr sz="1125" b="0">
                <a:solidFill>
                  <a:srgbClr val="6C647E"/>
                </a:solidFill>
              </a:rPr>
              <a:t>비밀번호 암호화 검증 비용이 커서 CPU 집약 서비스로 분리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8B381B-C7BE-4A9D-B777-CB59CBAD6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714500"/>
            <a:ext cx="3333750" cy="1333500"/>
          </a:xfrm>
          <a:prstGeom xmlns:a="http://schemas.openxmlformats.org/drawingml/2006/main" prst="roundRect">
            <a:avLst>
              <a:gd name="adj" fmla="val 1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6F703F-9129-4EE6-A261-DC095A8A7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885950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E43F3"/>
                </a:solidFill>
              </a:defRPr>
            </a:pPr>
            <a:r>
              <a:rPr sz="1500" b="1">
                <a:solidFill>
                  <a:srgbClr val="6E43F3"/>
                </a:solidFill>
              </a:rPr>
              <a:t>concert seat-map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7F210D-DEB7-430C-A378-A5D6FCE10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247900"/>
            <a:ext cx="2914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C647E"/>
                </a:solidFill>
              </a:defRPr>
            </a:pPr>
            <a:r>
              <a:rPr sz="1125" b="0">
                <a:solidFill>
                  <a:srgbClr val="6C647E"/>
                </a:solidFill>
              </a:rPr>
              <a:t>좌석 조회에서 tail latency가 커져 Redis cache 후보로 연결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CBE7E6-CDA3-4861-BFF2-2599F3E54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714500"/>
            <a:ext cx="3333750" cy="1333500"/>
          </a:xfrm>
          <a:prstGeom xmlns:a="http://schemas.openxmlformats.org/drawingml/2006/main" prst="roundRect">
            <a:avLst>
              <a:gd name="adj" fmla="val 1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10745B-B895-46E1-AB12-877647917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885950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B6DEB"/>
                </a:solidFill>
              </a:defRPr>
            </a:pPr>
            <a:r>
              <a:rPr sz="1500" b="1">
                <a:solidFill>
                  <a:srgbClr val="2B6DEB"/>
                </a:solidFill>
              </a:rPr>
              <a:t>목록 API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3E659C-55A9-4F25-B3A5-4ADE30C43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247900"/>
            <a:ext cx="2914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C647E"/>
                </a:solidFill>
              </a:defRPr>
            </a:pPr>
            <a:r>
              <a:rPr sz="1125" b="0">
                <a:solidFill>
                  <a:srgbClr val="6C647E"/>
                </a:solidFill>
              </a:rPr>
              <a:t>ticket/notification은 첫 페이지 기준으로 비교하고, 전체 조회 문제는 트러블에서 분리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C50DE5-4515-49F5-9EAB-DE8450C24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81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43F3"/>
          </a:solidFill>
          <a:ln xmlns:a="http://schemas.openxmlformats.org/drawingml/2006/main" w="0">
            <a:solidFill>
              <a:srgbClr val="6E43F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FC6C06-0DD3-4D55-8A27-59166E0B3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905250"/>
            <a:ext cx="9105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112D"/>
                </a:solidFill>
              </a:defRPr>
            </a:pPr>
            <a:r>
              <a:rPr sz="1350" b="0">
                <a:solidFill>
                  <a:srgbClr val="17112D"/>
                </a:solidFill>
              </a:rPr>
              <a:t>비효율적인 조회와 응답 구조를 먼저 정리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99F393-B888-40B5-82D5-5A7F456B5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19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43F3"/>
          </a:solidFill>
          <a:ln xmlns:a="http://schemas.openxmlformats.org/drawingml/2006/main" w="0">
            <a:solidFill>
              <a:srgbClr val="6E43F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1520F6-584C-4564-A123-1FEC41A00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343400"/>
            <a:ext cx="9105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112D"/>
                </a:solidFill>
              </a:defRPr>
            </a:pPr>
            <a:r>
              <a:rPr sz="1350" b="0">
                <a:solidFill>
                  <a:srgbClr val="17112D"/>
                </a:solidFill>
              </a:rPr>
              <a:t>인덱싱과 query plan 확인 뒤 기준치 확정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C7E07F-D006-4143-975D-1E085185F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857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43F3"/>
          </a:solidFill>
          <a:ln xmlns:a="http://schemas.openxmlformats.org/drawingml/2006/main" w="0">
            <a:solidFill>
              <a:srgbClr val="6E43F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A262E5-6759-4132-9CB5-6F8FE8C67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781550"/>
            <a:ext cx="9105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112D"/>
                </a:solidFill>
              </a:defRPr>
            </a:pPr>
            <a:r>
              <a:rPr sz="1350" b="0">
                <a:solidFill>
                  <a:srgbClr val="17112D"/>
                </a:solidFill>
              </a:rPr>
              <a:t>이 값들을 서비스별 안정 처리량 측정의 SLO 후보로 사용</a:t>
            </a:r>
          </a:p>
        </p:txBody>
      </p:sp>
    </p:spTree>
    <p:extLst>
      <p:ext uri="{BB962C8B-B14F-4D97-AF65-F5344CB8AC3E}">
        <p14:creationId xmlns:p14="http://schemas.microsoft.com/office/powerpoint/2010/main" val="5156720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B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B154A45-83E9-40B7-B4FE-8C185CECC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43F3"/>
          </a:solidFill>
          <a:ln xmlns:a="http://schemas.openxmlformats.org/drawingml/2006/main" w="0">
            <a:solidFill>
              <a:srgbClr val="6E43F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5893F6-98BA-4361-AB59-4680F290A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85737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E43F3"/>
          </a:solidFill>
          <a:ln xmlns:a="http://schemas.openxmlformats.org/drawingml/2006/main" w="0">
            <a:solidFill>
              <a:srgbClr val="6E43F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12. 안정 처리량 측정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8168CE-01BB-4685-9E04-1DAD407A4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6E43F3"/>
                </a:solidFill>
              </a:defRPr>
            </a:pPr>
            <a:r>
              <a:rPr sz="2550" b="1">
                <a:solidFill>
                  <a:srgbClr val="6E43F3"/>
                </a:solidFill>
              </a:rPr>
              <a:t>서비스별 안정 처리량: CPU 1000m Pod 1개 기준 RPS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2F56B7-8AEB-4AA7-A894-641DFAC88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0"/>
            <a:ext cx="9144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E43F3"/>
          </a:solidFill>
          <a:ln xmlns:a="http://schemas.openxmlformats.org/drawingml/2006/main" w="0">
            <a:solidFill>
              <a:srgbClr val="6E43F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티켓몽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29DD5D-6B03-41B7-A2DC-A2D875400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3436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9B7CFF"/>
                </a:solidFill>
              </a:defRPr>
            </a:pPr>
            <a:r>
              <a:rPr sz="975" b="1">
                <a:solidFill>
                  <a:srgbClr val="9B7CFF"/>
                </a:solidFill>
              </a:rPr>
              <a:t>Loadtest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F409D3-05FC-4B33-B9CD-A65F7A512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B7CFF"/>
                </a:solidFill>
              </a:defRPr>
            </a:pPr>
            <a:r>
              <a:rPr sz="975" b="1">
                <a:solidFill>
                  <a:srgbClr val="9B7CFF"/>
                </a:solidFill>
              </a:rPr>
              <a:t>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E2248E-F1DA-4CD6-B33C-D2D791245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76400"/>
            <a:ext cx="6762750" cy="3333750"/>
          </a:xfrm>
          <a:prstGeom xmlns:a="http://schemas.openxmlformats.org/drawingml/2006/main" prst="roundRect">
            <a:avLst>
              <a:gd name="adj" fmla="val 5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1085850" y="2095500"/>
          <a:ext xmlns:a="http://schemas.openxmlformats.org/drawingml/2006/main" cx="6076950" cy="25146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6a76aff977e4120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AC7A83-C2D5-4BAD-BD74-C087460ED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66900"/>
            <a:ext cx="3143250" cy="20002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504270-9D0A-4FA2-97E9-1A11FA4F7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03835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E43F3"/>
                </a:solidFill>
              </a:defRPr>
            </a:pPr>
            <a:r>
              <a:rPr sz="1500" b="1">
                <a:solidFill>
                  <a:srgbClr val="6E43F3"/>
                </a:solidFill>
              </a:rPr>
              <a:t>실험 조건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05E8A4-B4B3-4E8C-AF3E-1D5F9D826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00300"/>
            <a:ext cx="27241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C647E"/>
                </a:solidFill>
              </a:defRPr>
            </a:pPr>
            <a:r>
              <a:rPr sz="1125" b="0">
                <a:solidFill>
                  <a:srgbClr val="6C647E"/>
                </a:solidFill>
              </a:rPr>
              <a:t>HPA off</a:t>
            </a:r>
          </a:p>
          <a:p xmlns:a="http://schemas.openxmlformats.org/drawingml/2006/main">
            <a:pPr>
              <a:defRPr sz="1125" b="0">
                <a:solidFill>
                  <a:srgbClr val="6C647E"/>
                </a:solidFill>
              </a:defRPr>
            </a:pPr>
            <a:r>
              <a:rPr sz="1125" b="0">
                <a:solidFill>
                  <a:srgbClr val="6C647E"/>
                </a:solidFill>
              </a:rPr>
              <a:t>single replica</a:t>
            </a:r>
          </a:p>
          <a:p xmlns:a="http://schemas.openxmlformats.org/drawingml/2006/main">
            <a:pPr>
              <a:defRPr sz="1125" b="0">
                <a:solidFill>
                  <a:srgbClr val="6C647E"/>
                </a:solidFill>
              </a:defRPr>
            </a:pPr>
            <a:r>
              <a:rPr sz="1125" b="0">
                <a:solidFill>
                  <a:srgbClr val="6C647E"/>
                </a:solidFill>
              </a:rPr>
              <a:t>CPU request 1000m</a:t>
            </a:r>
          </a:p>
          <a:p xmlns:a="http://schemas.openxmlformats.org/drawingml/2006/main">
            <a:pPr>
              <a:defRPr sz="1125" b="0">
                <a:solidFill>
                  <a:srgbClr val="6C647E"/>
                </a:solidFill>
              </a:defRPr>
            </a:pPr>
            <a:r>
              <a:rPr sz="1125" b="0">
                <a:solidFill>
                  <a:srgbClr val="6C647E"/>
                </a:solidFill>
              </a:rPr>
              <a:t>p95/error 기준 확인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037710-D968-4BF7-A6AF-5229453ED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114800"/>
            <a:ext cx="3143250" cy="1238250"/>
          </a:xfrm>
          <a:prstGeom xmlns:a="http://schemas.openxmlformats.org/drawingml/2006/main" prst="roundRect">
            <a:avLst>
              <a:gd name="adj" fmla="val 1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97F1E5-1209-4F86-8834-2F6F88E3C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28625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9F7A"/>
                </a:solidFill>
              </a:defRPr>
            </a:pPr>
            <a:r>
              <a:rPr sz="1500" b="1">
                <a:solidFill>
                  <a:srgbClr val="0F9F7A"/>
                </a:solidFill>
              </a:rPr>
              <a:t>핵심 해석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5E7D78-885B-47F3-B12C-F841B4DE4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648200"/>
            <a:ext cx="2724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C647E"/>
                </a:solidFill>
              </a:defRPr>
            </a:pPr>
            <a:r>
              <a:rPr sz="1125" b="0">
                <a:solidFill>
                  <a:srgbClr val="6C647E"/>
                </a:solidFill>
              </a:rPr>
              <a:t>API 응답 시간과 Kubernetes 경로의 실제 RPS는 다르다.</a:t>
            </a:r>
          </a:p>
          <a:p xmlns:a="http://schemas.openxmlformats.org/drawingml/2006/main">
            <a:pPr>
              <a:defRPr sz="1125" b="0">
                <a:solidFill>
                  <a:srgbClr val="6C647E"/>
                </a:solidFill>
              </a:defRPr>
            </a:pPr>
            <a:r>
              <a:rPr sz="1125" b="0">
                <a:solidFill>
                  <a:srgbClr val="6C647E"/>
                </a:solidFill>
              </a:rPr>
              <a:t>Kong, network, DB pool, worker, CPU가 함께 작동한다.</a:t>
            </a:r>
          </a:p>
        </p:txBody>
      </p:sp>
    </p:spTree>
    <p:extLst>
      <p:ext uri="{BB962C8B-B14F-4D97-AF65-F5344CB8AC3E}">
        <p14:creationId xmlns:p14="http://schemas.microsoft.com/office/powerpoint/2010/main" val="206534910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B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B648FF2-02B9-4051-A4BF-3EDF68435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43F3"/>
          </a:solidFill>
          <a:ln xmlns:a="http://schemas.openxmlformats.org/drawingml/2006/main" w="0">
            <a:solidFill>
              <a:srgbClr val="6E43F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B86A9A-5C88-4FA2-B8F4-A25219F93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524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E43F3"/>
          </a:solidFill>
          <a:ln xmlns:a="http://schemas.openxmlformats.org/drawingml/2006/main" w="0">
            <a:solidFill>
              <a:srgbClr val="6E43F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12. 측정 과정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EEAA87-4560-4B8A-B83A-DDE3A3581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6E43F3"/>
                </a:solidFill>
              </a:defRPr>
            </a:pPr>
            <a:r>
              <a:rPr sz="2550" b="1">
                <a:solidFill>
                  <a:srgbClr val="6E43F3"/>
                </a:solidFill>
              </a:rPr>
              <a:t>테스트는 병목 후보를 하나씩 좁히는 방식으로 진행했다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C9EB0B-608C-4AE3-B6CF-6506A5791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0"/>
            <a:ext cx="9144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E43F3"/>
          </a:solidFill>
          <a:ln xmlns:a="http://schemas.openxmlformats.org/drawingml/2006/main" w="0">
            <a:solidFill>
              <a:srgbClr val="6E43F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티켓몽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F6FE1B-A0AB-40AC-8C4B-FB5A6D2B1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3436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9B7CFF"/>
                </a:solidFill>
              </a:defRPr>
            </a:pPr>
            <a:r>
              <a:rPr sz="975" b="1">
                <a:solidFill>
                  <a:srgbClr val="9B7CFF"/>
                </a:solidFill>
              </a:rPr>
              <a:t>Loadtest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0E25BA-E7CD-4077-A4EA-B936C31EC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B7CFF"/>
                </a:solidFill>
              </a:defRPr>
            </a:pPr>
            <a:r>
              <a:rPr sz="975" b="1">
                <a:solidFill>
                  <a:srgbClr val="9B7CFF"/>
                </a:solidFill>
              </a:rPr>
              <a:t>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E1F424-393F-4CDC-B71C-4812E9DB8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3143250" cy="20002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7A14B9-09B8-4EF5-8E40-547F25992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6695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08A24"/>
                </a:solidFill>
              </a:defRPr>
            </a:pPr>
            <a:r>
              <a:rPr sz="1500" b="1">
                <a:solidFill>
                  <a:srgbClr val="F08A24"/>
                </a:solidFill>
              </a:rPr>
              <a:t>기본 실행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9CD16A-60CB-47C7-8D14-29EA5743B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28900"/>
            <a:ext cx="27241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C647E"/>
                </a:solidFill>
              </a:defRPr>
            </a:pPr>
            <a:r>
              <a:rPr sz="1125" b="0">
                <a:solidFill>
                  <a:srgbClr val="6C647E"/>
                </a:solidFill>
              </a:rPr>
              <a:t>CPU 1000m / HPA off</a:t>
            </a:r>
          </a:p>
          <a:p xmlns:a="http://schemas.openxmlformats.org/drawingml/2006/main">
            <a:pPr>
              <a:defRPr sz="1125" b="0">
                <a:solidFill>
                  <a:srgbClr val="6C647E"/>
                </a:solidFill>
              </a:defRPr>
            </a:pPr>
            <a:r>
              <a:rPr sz="1125" b="0">
                <a:solidFill>
                  <a:srgbClr val="6C647E"/>
                </a:solidFill>
              </a:rPr>
              <a:t>concert·reservation·ticket에서 timeout과 pool 후보 확인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454482-92CE-47E7-BAE4-8B1B27B43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048000"/>
            <a:ext cx="43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B7C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FAF4EA-2909-4092-ADF4-80A6E5150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95500"/>
            <a:ext cx="3143250" cy="20002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31746C-93C6-4A43-96D6-3C19C0766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26695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B6DEB"/>
                </a:solidFill>
              </a:defRPr>
            </a:pPr>
            <a:r>
              <a:rPr sz="1500" b="1">
                <a:solidFill>
                  <a:srgbClr val="2B6DEB"/>
                </a:solidFill>
              </a:rPr>
              <a:t>DB pool 상향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35F2AD-BBD1-45DB-B258-C86B3CF3B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628900"/>
            <a:ext cx="27241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C647E"/>
                </a:solidFill>
              </a:defRPr>
            </a:pPr>
            <a:r>
              <a:rPr sz="1125" b="0">
                <a:solidFill>
                  <a:srgbClr val="6C647E"/>
                </a:solidFill>
              </a:rPr>
              <a:t>pool 35/20/15s</a:t>
            </a:r>
          </a:p>
          <a:p xmlns:a="http://schemas.openxmlformats.org/drawingml/2006/main">
            <a:pPr>
              <a:defRPr sz="1125" b="0">
                <a:solidFill>
                  <a:srgbClr val="6C647E"/>
                </a:solidFill>
              </a:defRPr>
            </a:pPr>
            <a:r>
              <a:rPr sz="1125" b="0">
                <a:solidFill>
                  <a:srgbClr val="6C647E"/>
                </a:solidFill>
              </a:rPr>
              <a:t>reservation·ticket 개선, concert는 여전히 실패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6709EC-B21F-4A35-9A1B-2E491C395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048000"/>
            <a:ext cx="43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B7C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E421BD-34E3-4198-8FAF-3C5912CCB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95500"/>
            <a:ext cx="3143250" cy="20002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880A2F-1A79-45A9-81AC-8D6A1BB5A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26695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9F7A"/>
                </a:solidFill>
              </a:defRPr>
            </a:pPr>
            <a:r>
              <a:rPr sz="1500" b="1">
                <a:solidFill>
                  <a:srgbClr val="0F9F7A"/>
                </a:solidFill>
              </a:rPr>
              <a:t>server/worker 분리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FE167B-FBAE-4C83-9044-9F184680F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628900"/>
            <a:ext cx="27241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C647E"/>
                </a:solidFill>
              </a:defRPr>
            </a:pPr>
            <a:r>
              <a:rPr sz="1125" b="0">
                <a:solidFill>
                  <a:srgbClr val="6C647E"/>
                </a:solidFill>
              </a:rPr>
              <a:t>API process와 background worker 분리</a:t>
            </a:r>
          </a:p>
          <a:p xmlns:a="http://schemas.openxmlformats.org/drawingml/2006/main">
            <a:pPr>
              <a:defRPr sz="1125" b="0">
                <a:solidFill>
                  <a:srgbClr val="6C647E"/>
                </a:solidFill>
              </a:defRPr>
            </a:pPr>
            <a:r>
              <a:rPr sz="1125" b="0">
                <a:solidFill>
                  <a:srgbClr val="6C647E"/>
                </a:solidFill>
              </a:rPr>
              <a:t>전체 run PASS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D02D39-932E-4DFC-836C-D8FBB3A19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530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4114F"/>
                </a:solidFill>
              </a:defRPr>
            </a:pPr>
            <a:r>
              <a:rPr sz="1650" b="1">
                <a:solidFill>
                  <a:srgbClr val="24114F"/>
                </a:solidFill>
              </a:rPr>
              <a:t>결과 수치만 보여주되, 측정이 단순 최대 RPS 찾기가 아니었다는 점을 짧게 설명한다.</a:t>
            </a:r>
          </a:p>
        </p:txBody>
      </p:sp>
    </p:spTree>
    <p:extLst>
      <p:ext uri="{BB962C8B-B14F-4D97-AF65-F5344CB8AC3E}">
        <p14:creationId xmlns:p14="http://schemas.microsoft.com/office/powerpoint/2010/main" val="78975900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B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C260EE8-A9A3-4341-8BD2-6D7CC1152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43F3"/>
          </a:solidFill>
          <a:ln xmlns:a="http://schemas.openxmlformats.org/drawingml/2006/main" w="0">
            <a:solidFill>
              <a:srgbClr val="6E43F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216B9D-8866-4745-B96D-DB7106882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85737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E43F3"/>
          </a:solidFill>
          <a:ln xmlns:a="http://schemas.openxmlformats.org/drawingml/2006/main" w="0">
            <a:solidFill>
              <a:srgbClr val="6E43F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12-1. auth 해석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32272E-72A6-4120-90AD-65B65B7E0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6E43F3"/>
                </a:solidFill>
              </a:defRPr>
            </a:pPr>
            <a:r>
              <a:rPr sz="2550" b="1">
                <a:solidFill>
                  <a:srgbClr val="6E43F3"/>
                </a:solidFill>
              </a:rPr>
              <a:t>auth-service는 30 RPS를 안정 기준으로 잡았다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846526-B9AF-46CB-8932-241C120A2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0"/>
            <a:ext cx="9144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E43F3"/>
          </a:solidFill>
          <a:ln xmlns:a="http://schemas.openxmlformats.org/drawingml/2006/main" w="0">
            <a:solidFill>
              <a:srgbClr val="6E43F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티켓몽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4E127B-148E-436E-B45B-A3A14AFD8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3436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9B7CFF"/>
                </a:solidFill>
              </a:defRPr>
            </a:pPr>
            <a:r>
              <a:rPr sz="975" b="1">
                <a:solidFill>
                  <a:srgbClr val="9B7CFF"/>
                </a:solidFill>
              </a:rPr>
              <a:t>Loadtest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E9B824-A4D0-46BF-A82C-9BF36BD60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B7CFF"/>
                </a:solidFill>
              </a:defRPr>
            </a:pPr>
            <a:r>
              <a:rPr sz="975" b="1">
                <a:solidFill>
                  <a:srgbClr val="9B7CFF"/>
                </a:solidFill>
              </a:rPr>
              <a:t>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111931-FC50-4A67-B1C1-9AD71BDC6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66900"/>
            <a:ext cx="2762250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77AFB0-A170-4E02-A193-1D8BE63CA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019300"/>
            <a:ext cx="2419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C647E"/>
                </a:solidFill>
              </a:defRPr>
            </a:pPr>
            <a:r>
              <a:rPr sz="1050" b="1">
                <a:solidFill>
                  <a:srgbClr val="6C647E"/>
                </a:solidFill>
              </a:rPr>
              <a:t>30 RPS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4F385A-F766-4EAE-B087-DA349ED74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266950"/>
            <a:ext cx="2419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F9F7A"/>
                </a:solidFill>
              </a:defRPr>
            </a:pPr>
            <a:r>
              <a:rPr sz="2250" b="1">
                <a:solidFill>
                  <a:srgbClr val="0F9F7A"/>
                </a:solidFill>
              </a:rPr>
              <a:t>747.8m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553AC5-1736-43C9-BD38-8110F344B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667000"/>
            <a:ext cx="2419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C647E"/>
                </a:solidFill>
              </a:defRPr>
            </a:pPr>
            <a:r>
              <a:rPr sz="975" b="0">
                <a:solidFill>
                  <a:srgbClr val="6C647E"/>
                </a:solidFill>
              </a:rPr>
              <a:t>CPU avg / error 0%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F39D82-DA81-4354-BF82-7F2B3248E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866900"/>
            <a:ext cx="2762250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858CDE-A46C-4A0C-A7DF-8C73ED7E8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019300"/>
            <a:ext cx="2419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C647E"/>
                </a:solidFill>
              </a:defRPr>
            </a:pPr>
            <a:r>
              <a:rPr sz="1050" b="1">
                <a:solidFill>
                  <a:srgbClr val="6C647E"/>
                </a:solidFill>
              </a:rPr>
              <a:t>40 RPS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38CE27-5AC2-4054-B511-05F2CD61D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266950"/>
            <a:ext cx="2419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08A24"/>
                </a:solidFill>
              </a:defRPr>
            </a:pPr>
            <a:r>
              <a:rPr sz="2250" b="1">
                <a:solidFill>
                  <a:srgbClr val="F08A24"/>
                </a:solidFill>
              </a:rPr>
              <a:t>1476.4m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EFD073-697B-4218-8A10-B20B0C6FB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667000"/>
            <a:ext cx="2419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C647E"/>
                </a:solidFill>
              </a:defRPr>
            </a:pPr>
            <a:r>
              <a:rPr sz="975" b="0">
                <a:solidFill>
                  <a:srgbClr val="6C647E"/>
                </a:solidFill>
              </a:rPr>
              <a:t>CPU avg / error 0%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915CA5-EC47-4638-BE65-FCFF7FC9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66900"/>
            <a:ext cx="3143250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83AB92-7686-4F74-93BB-33C777D64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19300"/>
            <a:ext cx="2800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C647E"/>
                </a:solidFill>
              </a:defRPr>
            </a:pPr>
            <a:r>
              <a:rPr sz="1050" b="1">
                <a:solidFill>
                  <a:srgbClr val="6C647E"/>
                </a:solidFill>
              </a:rPr>
              <a:t>HPA 후보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85C288-43EF-4CF6-9AC1-31FD3435D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66950"/>
            <a:ext cx="2800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6E43F3"/>
                </a:solidFill>
              </a:defRPr>
            </a:pPr>
            <a:r>
              <a:rPr sz="2250" b="1">
                <a:solidFill>
                  <a:srgbClr val="6E43F3"/>
                </a:solidFill>
              </a:rPr>
              <a:t>1069m → 2110m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45B196-8EB8-40AE-B1EC-CEDF794D9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667000"/>
            <a:ext cx="2800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C647E"/>
                </a:solidFill>
              </a:defRPr>
            </a:pPr>
            <a:r>
              <a:rPr sz="975" b="0">
                <a:solidFill>
                  <a:srgbClr val="6C647E"/>
                </a:solidFill>
              </a:rPr>
              <a:t>target 70% 기준 request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410BE5-C115-410B-8503-53D912B89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05250"/>
            <a:ext cx="9334500" cy="1181100"/>
          </a:xfrm>
          <a:prstGeom xmlns:a="http://schemas.openxmlformats.org/drawingml/2006/main" prst="roundRect">
            <a:avLst>
              <a:gd name="adj" fmla="val 14516"/>
            </a:avLst>
          </a:prstGeom>
          <a:solidFill xmlns:a="http://schemas.openxmlformats.org/drawingml/2006/main">
            <a:srgbClr val="F7F3FF"/>
          </a:solidFill>
          <a:ln xmlns:a="http://schemas.openxmlformats.org/drawingml/2006/main" w="9525">
            <a:solidFill>
              <a:srgbClr val="9B7C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E20FD0-A2B5-4F23-94BB-0A2E8C79C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076700"/>
            <a:ext cx="891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E43F3"/>
                </a:solidFill>
              </a:defRPr>
            </a:pPr>
            <a:r>
              <a:rPr sz="1500" b="1">
                <a:solidFill>
                  <a:srgbClr val="6E43F3"/>
                </a:solidFill>
              </a:rPr>
              <a:t>판단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3543B9-F26E-47D6-A193-9F634000C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438650"/>
            <a:ext cx="8915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C647E"/>
                </a:solidFill>
              </a:defRPr>
            </a:pPr>
            <a:r>
              <a:rPr sz="1125" b="0">
                <a:solidFill>
                  <a:srgbClr val="6C647E"/>
                </a:solidFill>
              </a:rPr>
              <a:t>10 RPS를 더 얻기 위해 CPU 비용이 약 2배로 증가했다.</a:t>
            </a:r>
          </a:p>
          <a:p xmlns:a="http://schemas.openxmlformats.org/drawingml/2006/main">
            <a:pPr>
              <a:defRPr sz="1125" b="0">
                <a:solidFill>
                  <a:srgbClr val="6C647E"/>
                </a:solidFill>
              </a:defRPr>
            </a:pPr>
            <a:r>
              <a:rPr sz="1125" b="0">
                <a:solidFill>
                  <a:srgbClr val="6C647E"/>
                </a:solidFill>
              </a:rPr>
              <a:t>비밀번호 암호화 검증 비용이 큰 CPU 집약 서비스이므로, 1000m 기준 30 RPS를 Pod당 기준으로 두고 replica 증가로 대응한다.</a:t>
            </a:r>
          </a:p>
        </p:txBody>
      </p:sp>
    </p:spTree>
    <p:extLst>
      <p:ext uri="{BB962C8B-B14F-4D97-AF65-F5344CB8AC3E}">
        <p14:creationId xmlns:p14="http://schemas.microsoft.com/office/powerpoint/2010/main" val="3802516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B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4B4987A-9045-4878-952B-701CE3FC9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43F3"/>
          </a:solidFill>
          <a:ln xmlns:a="http://schemas.openxmlformats.org/drawingml/2006/main" w="0">
            <a:solidFill>
              <a:srgbClr val="6E43F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87892B-FBC3-45E0-9D48-C96509816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2000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E43F3"/>
          </a:solidFill>
          <a:ln xmlns:a="http://schemas.openxmlformats.org/drawingml/2006/main" w="0">
            <a:solidFill>
              <a:srgbClr val="6E43F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13. HPA 조건과 방법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D7304B-5879-4578-84ED-EB00A7EE7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6E43F3"/>
                </a:solidFill>
              </a:defRPr>
            </a:pPr>
            <a:r>
              <a:rPr sz="2550" b="1">
                <a:solidFill>
                  <a:srgbClr val="6E43F3"/>
                </a:solidFill>
              </a:rPr>
              <a:t>HPA Test는 scale-out과 SLO 회복을 함께 봤다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DF53CC-8AE1-44B6-A59F-7CECF5091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0"/>
            <a:ext cx="9144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E43F3"/>
          </a:solidFill>
          <a:ln xmlns:a="http://schemas.openxmlformats.org/drawingml/2006/main" w="0">
            <a:solidFill>
              <a:srgbClr val="6E43F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티켓몽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A96F7A-4204-4E80-9B51-26271E36B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3436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9B7CFF"/>
                </a:solidFill>
              </a:defRPr>
            </a:pPr>
            <a:r>
              <a:rPr sz="975" b="1">
                <a:solidFill>
                  <a:srgbClr val="9B7CFF"/>
                </a:solidFill>
              </a:rPr>
              <a:t>Loadtest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43E412-34D4-437C-BBD7-97F46DC5E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B7CFF"/>
                </a:solidFill>
              </a:defRPr>
            </a:pPr>
            <a:r>
              <a:rPr sz="975" b="1">
                <a:solidFill>
                  <a:srgbClr val="9B7CFF"/>
                </a:solidFill>
              </a:rPr>
              <a:t>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A07679-BDD3-4D84-B9AB-79FCABDE9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4953000" cy="19050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B4A055-E477-44F3-A718-E13CFE7EF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85950"/>
            <a:ext cx="453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E43F3"/>
                </a:solidFill>
              </a:defRPr>
            </a:pPr>
            <a:r>
              <a:rPr sz="1500" b="1">
                <a:solidFill>
                  <a:srgbClr val="6E43F3"/>
                </a:solidFill>
              </a:rPr>
              <a:t>조건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A4C76A-E4BD-45A3-AB6B-C6FF9F409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45339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C647E"/>
                </a:solidFill>
              </a:defRPr>
            </a:pPr>
            <a:r>
              <a:rPr sz="1125" b="0">
                <a:solidFill>
                  <a:srgbClr val="6C647E"/>
                </a:solidFill>
              </a:rPr>
              <a:t>scenario: service-hpa-spike-load-test</a:t>
            </a:r>
          </a:p>
          <a:p xmlns:a="http://schemas.openxmlformats.org/drawingml/2006/main">
            <a:pPr>
              <a:defRPr sz="1125" b="0">
                <a:solidFill>
                  <a:srgbClr val="6C647E"/>
                </a:solidFill>
              </a:defRPr>
            </a:pPr>
            <a:r>
              <a:rPr sz="1125" b="0">
                <a:solidFill>
                  <a:srgbClr val="6C647E"/>
                </a:solidFill>
              </a:rPr>
              <a:t>dataset: capacity-baseline-half-year-early-growth-v2</a:t>
            </a:r>
          </a:p>
          <a:p xmlns:a="http://schemas.openxmlformats.org/drawingml/2006/main">
            <a:pPr>
              <a:defRPr sz="1125" b="0">
                <a:solidFill>
                  <a:srgbClr val="6C647E"/>
                </a:solidFill>
              </a:defRPr>
            </a:pPr>
            <a:r>
              <a:rPr sz="1125" b="0">
                <a:solidFill>
                  <a:srgbClr val="6C647E"/>
                </a:solidFill>
              </a:rPr>
              <a:t>CPU request: 1000m / targetCPUUtilization: 70%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062FE0-A28A-412E-998B-0242FB068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14500"/>
            <a:ext cx="4953000" cy="19050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101AFB-90F3-4627-93D4-932A82DB3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885950"/>
            <a:ext cx="453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B6DEB"/>
                </a:solidFill>
              </a:defRPr>
            </a:pPr>
            <a:r>
              <a:rPr sz="1500" b="1">
                <a:solidFill>
                  <a:srgbClr val="2B6DEB"/>
                </a:solidFill>
              </a:rPr>
              <a:t>local 검증 범위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C8BA50-49FD-48E8-8363-25A7539A5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247900"/>
            <a:ext cx="45339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C647E"/>
                </a:solidFill>
              </a:defRPr>
            </a:pPr>
            <a:r>
              <a:rPr sz="1125" b="0">
                <a:solidFill>
                  <a:srgbClr val="6C647E"/>
                </a:solidFill>
              </a:rPr>
              <a:t>min/max replicas: 1/4</a:t>
            </a:r>
          </a:p>
          <a:p xmlns:a="http://schemas.openxmlformats.org/drawingml/2006/main">
            <a:pPr>
              <a:defRPr sz="1125" b="0">
                <a:solidFill>
                  <a:srgbClr val="6C647E"/>
                </a:solidFill>
              </a:defRPr>
            </a:pPr>
            <a:r>
              <a:rPr sz="1125" b="0">
                <a:solidFill>
                  <a:srgbClr val="6C647E"/>
                </a:solidFill>
              </a:rPr>
              <a:t>k6 runner: 500m / 1Gi</a:t>
            </a:r>
          </a:p>
          <a:p xmlns:a="http://schemas.openxmlformats.org/drawingml/2006/main">
            <a:pPr>
              <a:defRPr sz="1125" b="0">
                <a:solidFill>
                  <a:srgbClr val="6C647E"/>
                </a:solidFill>
              </a:defRPr>
            </a:pPr>
            <a:r>
              <a:rPr sz="1125" b="0">
                <a:solidFill>
                  <a:srgbClr val="6C647E"/>
                </a:solidFill>
              </a:rPr>
              <a:t>품질 기준: failed &lt; 1%, p95 &lt; 150ms, p99 &lt; 300ms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2F7EA1-001D-4924-851A-735B48EB1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72000"/>
            <a:ext cx="142875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E43F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60C6D9-9DB8-4B99-97BC-96DDA19E8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72440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112D"/>
                </a:solidFill>
              </a:defRPr>
            </a:pPr>
            <a:r>
              <a:rPr sz="1125" b="1">
                <a:solidFill>
                  <a:srgbClr val="17112D"/>
                </a:solidFill>
              </a:rPr>
              <a:t>warmup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9B9ACE-9082-4B24-9597-1AABE22C7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8577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B7C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5E7189-15F6-47F4-BEAD-5DE59474A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572000"/>
            <a:ext cx="142875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E43F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772BA7-F6D4-4168-BC3B-90743F57C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72440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112D"/>
                </a:solidFill>
              </a:defRPr>
            </a:pPr>
            <a:r>
              <a:rPr sz="1125" b="1">
                <a:solidFill>
                  <a:srgbClr val="17112D"/>
                </a:solidFill>
              </a:rPr>
              <a:t>baseline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79516B-A9DD-4891-94A2-C824B3D9D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8577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B7C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68344A-460F-4238-BAD4-DFD692D13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572000"/>
            <a:ext cx="142875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08A2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A93AB0-2969-4C75-BC87-B13045617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72440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112D"/>
                </a:solidFill>
              </a:defRPr>
            </a:pPr>
            <a:r>
              <a:rPr sz="1125" b="1">
                <a:solidFill>
                  <a:srgbClr val="17112D"/>
                </a:solidFill>
              </a:rPr>
              <a:t>spike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D52B42-98D4-4FD7-9935-90D88A439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8577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B7C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4E6357-0D3B-4491-B652-BA19700FB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572000"/>
            <a:ext cx="142875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08A2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0AEBF7-2620-4AC5-B61F-8E6C51EE3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72440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112D"/>
                </a:solidFill>
              </a:defRPr>
            </a:pPr>
            <a:r>
              <a:rPr sz="1125" b="1">
                <a:solidFill>
                  <a:srgbClr val="17112D"/>
                </a:solidFill>
              </a:rPr>
              <a:t>overload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16EBD6-B864-46CD-B2F7-702B843C8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8577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B7C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4BCD73-551A-4982-B944-9D5848BCC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572000"/>
            <a:ext cx="142875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E43F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D548A6-A092-47B3-99D4-405BD1B73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72440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112D"/>
                </a:solidFill>
              </a:defRPr>
            </a:pPr>
            <a:r>
              <a:rPr sz="1125" b="1">
                <a:solidFill>
                  <a:srgbClr val="17112D"/>
                </a:solidFill>
              </a:rPr>
              <a:t>cooldown</a:t>
            </a:r>
          </a:p>
        </p:txBody>
      </p:sp>
    </p:spTree>
    <p:extLst>
      <p:ext uri="{BB962C8B-B14F-4D97-AF65-F5344CB8AC3E}">
        <p14:creationId xmlns:p14="http://schemas.microsoft.com/office/powerpoint/2010/main" val="69660698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B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2D6A69D-5A98-43E9-9040-70489D3EF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43F3"/>
          </a:solidFill>
          <a:ln xmlns:a="http://schemas.openxmlformats.org/drawingml/2006/main" w="0">
            <a:solidFill>
              <a:srgbClr val="6E43F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B07C29-8530-4334-9302-953B52B81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714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E43F3"/>
          </a:solidFill>
          <a:ln xmlns:a="http://schemas.openxmlformats.org/drawingml/2006/main" w="0">
            <a:solidFill>
              <a:srgbClr val="6E43F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13-1. HPA 결과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5AEE52-2756-4D6E-AAC7-044BCDDD1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6E43F3"/>
                </a:solidFill>
              </a:defRPr>
            </a:pPr>
            <a:r>
              <a:rPr sz="2550" b="1">
                <a:solidFill>
                  <a:srgbClr val="6E43F3"/>
                </a:solidFill>
              </a:rPr>
              <a:t>HPA Test 결과: HPA 반응과 k6 PASS는 달랐다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22740C-2F35-4934-99A6-109B2F14C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0"/>
            <a:ext cx="9144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E43F3"/>
          </a:solidFill>
          <a:ln xmlns:a="http://schemas.openxmlformats.org/drawingml/2006/main" w="0">
            <a:solidFill>
              <a:srgbClr val="6E43F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티켓몽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60102D-D0A8-4F5C-958D-E25A37989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3436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9B7CFF"/>
                </a:solidFill>
              </a:defRPr>
            </a:pPr>
            <a:r>
              <a:rPr sz="975" b="1">
                <a:solidFill>
                  <a:srgbClr val="9B7CFF"/>
                </a:solidFill>
              </a:rPr>
              <a:t>Loadtest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265156-12F7-484A-AA75-A422CBBF7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B7CFF"/>
                </a:solidFill>
              </a:defRPr>
            </a:pPr>
            <a:r>
              <a:rPr sz="975" b="1">
                <a:solidFill>
                  <a:srgbClr val="9B7CFF"/>
                </a:solidFill>
              </a:rPr>
              <a:t>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7EEC12-B782-4E8F-9A79-8F0335B1E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2006708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43F3"/>
          </a:solidFill>
          <a:ln xmlns:a="http://schemas.openxmlformats.org/drawingml/2006/main" w="9525">
            <a:solidFill>
              <a:srgbClr val="D8CC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2F2FF3-3DE0-4BDC-9A0D-5AC10B4DB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1816208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Service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3F93B7-E441-487B-ABE7-A0E9F3529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508" y="1695450"/>
            <a:ext cx="2006708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43F3"/>
          </a:solidFill>
          <a:ln xmlns:a="http://schemas.openxmlformats.org/drawingml/2006/main" w="9525">
            <a:solidFill>
              <a:srgbClr val="D8CC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F77242-29FF-4C46-8900-302E1A87D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7758" y="1771650"/>
            <a:ext cx="1816208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Preset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CF3D3F-C40C-46B1-9089-30596E7A9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215" y="1695450"/>
            <a:ext cx="1459424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43F3"/>
          </a:solidFill>
          <a:ln xmlns:a="http://schemas.openxmlformats.org/drawingml/2006/main" w="9525">
            <a:solidFill>
              <a:srgbClr val="D8CC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9AEC94-162B-4711-8BE7-0BF6659AD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4465" y="1771650"/>
            <a:ext cx="1268924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k6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DA8770-7159-43A2-BCAB-4B68CB972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8639" y="1695450"/>
            <a:ext cx="1459424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43F3"/>
          </a:solidFill>
          <a:ln xmlns:a="http://schemas.openxmlformats.org/drawingml/2006/main" w="9525">
            <a:solidFill>
              <a:srgbClr val="D8CC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B8F315-03DB-4A55-970B-0F607D4CE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3889" y="1771650"/>
            <a:ext cx="1268924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HPA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829669-23E2-4E97-BF10-CAD565CB3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8063" y="1695450"/>
            <a:ext cx="3830987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43F3"/>
          </a:solidFill>
          <a:ln xmlns:a="http://schemas.openxmlformats.org/drawingml/2006/main" w="9525">
            <a:solidFill>
              <a:srgbClr val="D8CC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6CF11E-D90C-4B8D-BBE9-212388035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3313" y="1771650"/>
            <a:ext cx="3640487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판단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7CEF27-FBD8-4447-B54E-B62F351F9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2006708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FF"/>
          </a:solidFill>
          <a:ln xmlns:a="http://schemas.openxmlformats.org/drawingml/2006/main" w="9525">
            <a:solidFill>
              <a:srgbClr val="D8CC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002D29-B9C5-4091-9910-80CB1C359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09800"/>
            <a:ext cx="1816208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7112D"/>
                </a:solidFill>
              </a:defRPr>
            </a:pPr>
            <a:r>
              <a:rPr sz="975" b="0">
                <a:solidFill>
                  <a:srgbClr val="17112D"/>
                </a:solidFill>
              </a:rPr>
              <a:t>auth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0040E1-7E17-4249-900C-C454B897D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508" y="2133600"/>
            <a:ext cx="2006708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FF"/>
          </a:solidFill>
          <a:ln xmlns:a="http://schemas.openxmlformats.org/drawingml/2006/main" w="9525">
            <a:solidFill>
              <a:srgbClr val="D8CC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3369BF-8BB0-44E7-B802-6EF0AC3AE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7758" y="2209800"/>
            <a:ext cx="1816208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7112D"/>
                </a:solidFill>
              </a:defRPr>
            </a:pPr>
            <a:r>
              <a:rPr sz="975" b="0">
                <a:solidFill>
                  <a:srgbClr val="17112D"/>
                </a:solidFill>
              </a:rPr>
              <a:t>30 RPS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A986CB-95EA-467C-AD80-0127CE2F3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215" y="2133600"/>
            <a:ext cx="1459424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FF"/>
          </a:solidFill>
          <a:ln xmlns:a="http://schemas.openxmlformats.org/drawingml/2006/main" w="9525">
            <a:solidFill>
              <a:srgbClr val="D8CC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FD2193-4C0D-4C52-B362-9E7C10D8C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4465" y="2209800"/>
            <a:ext cx="1268924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7112D"/>
                </a:solidFill>
              </a:defRPr>
            </a:pPr>
            <a:r>
              <a:rPr sz="975" b="0">
                <a:solidFill>
                  <a:srgbClr val="17112D"/>
                </a:solidFill>
              </a:rPr>
              <a:t>FAIL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B6D7D9-3832-46F0-980B-F1391CEBE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8639" y="2133600"/>
            <a:ext cx="1459424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FF"/>
          </a:solidFill>
          <a:ln xmlns:a="http://schemas.openxmlformats.org/drawingml/2006/main" w="9525">
            <a:solidFill>
              <a:srgbClr val="D8CC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4A6702-A4D1-4F6E-9FC2-55F42C1D2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3889" y="2209800"/>
            <a:ext cx="1268924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7112D"/>
                </a:solidFill>
              </a:defRPr>
            </a:pPr>
            <a:r>
              <a:rPr sz="975" b="0">
                <a:solidFill>
                  <a:srgbClr val="17112D"/>
                </a:solidFill>
              </a:rPr>
              <a:t>1→2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F4FA4B-0C02-4CF9-9F5A-B8190C0D0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8063" y="2133600"/>
            <a:ext cx="3830987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FF"/>
          </a:solidFill>
          <a:ln xmlns:a="http://schemas.openxmlformats.org/drawingml/2006/main" w="9525">
            <a:solidFill>
              <a:srgbClr val="D8CC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CACEFF-C1DD-4AAF-B617-D79E6A821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3313" y="2209800"/>
            <a:ext cx="3640487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7112D"/>
                </a:solidFill>
              </a:defRPr>
            </a:pPr>
            <a:r>
              <a:rPr sz="975" b="0">
                <a:solidFill>
                  <a:srgbClr val="17112D"/>
                </a:solidFill>
              </a:rPr>
              <a:t>p99 SLO 초과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EAB0A5D-8FC6-465E-B37B-90B347E3C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2006708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4EC269A-443A-4839-B776-04DFBF1CA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1816208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7112D"/>
                </a:solidFill>
              </a:defRPr>
            </a:pPr>
            <a:r>
              <a:rPr sz="975" b="0">
                <a:solidFill>
                  <a:srgbClr val="17112D"/>
                </a:solidFill>
              </a:rPr>
              <a:t>reservation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9B371AC-A755-4277-8D93-D80ECA44F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508" y="2571750"/>
            <a:ext cx="2006708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272955E-D13C-43D9-A111-22AEC6491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7758" y="2647950"/>
            <a:ext cx="1816208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7112D"/>
                </a:solidFill>
              </a:defRPr>
            </a:pPr>
            <a:r>
              <a:rPr sz="975" b="0">
                <a:solidFill>
                  <a:srgbClr val="17112D"/>
                </a:solidFill>
              </a:rPr>
              <a:t>140 RPS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0022E25-73B2-40E4-B419-B5469DA64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215" y="2571750"/>
            <a:ext cx="1459424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CBEAE69-9315-452C-9C1D-54CFF3F9C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4465" y="2647950"/>
            <a:ext cx="1268924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7112D"/>
                </a:solidFill>
              </a:defRPr>
            </a:pPr>
            <a:r>
              <a:rPr sz="975" b="0">
                <a:solidFill>
                  <a:srgbClr val="17112D"/>
                </a:solidFill>
              </a:rPr>
              <a:t>PASS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5FC689B-1CBC-437D-9318-014E9EA96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8639" y="2571750"/>
            <a:ext cx="1459424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44D2C05-1E3B-487E-9439-E4353FBF8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3889" y="2647950"/>
            <a:ext cx="1268924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7112D"/>
                </a:solidFill>
              </a:defRPr>
            </a:pPr>
            <a:r>
              <a:rPr sz="975" b="0">
                <a:solidFill>
                  <a:srgbClr val="17112D"/>
                </a:solidFill>
              </a:rPr>
              <a:t>1→2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2F7B11E-E2A8-4434-87F7-3DE405C98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8063" y="2571750"/>
            <a:ext cx="3830987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4CA9917-BEC7-4252-B118-B68588A33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3313" y="2647950"/>
            <a:ext cx="3640487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7112D"/>
                </a:solidFill>
              </a:defRPr>
            </a:pPr>
            <a:r>
              <a:rPr sz="975" b="0">
                <a:solidFill>
                  <a:srgbClr val="17112D"/>
                </a:solidFill>
              </a:rPr>
              <a:t>품질 안정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62053FD-56F8-4305-919A-2B662570C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2006708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FF"/>
          </a:solidFill>
          <a:ln xmlns:a="http://schemas.openxmlformats.org/drawingml/2006/main" w="9525">
            <a:solidFill>
              <a:srgbClr val="D8CCF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A54EE6E-2A75-4437-9C58-26E6C9206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1816208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7112D"/>
                </a:solidFill>
              </a:defRPr>
            </a:pPr>
            <a:r>
              <a:rPr sz="975" b="0">
                <a:solidFill>
                  <a:srgbClr val="17112D"/>
                </a:solidFill>
              </a:rPr>
              <a:t>ticket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922C8BA-C42B-497D-A489-AAE8B52B7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508" y="3009900"/>
            <a:ext cx="2006708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FF"/>
          </a:solidFill>
          <a:ln xmlns:a="http://schemas.openxmlformats.org/drawingml/2006/main" w="9525">
            <a:solidFill>
              <a:srgbClr val="D8CCF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7DFC06C-0806-4F92-9B76-F64DF84F9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7758" y="3086100"/>
            <a:ext cx="1816208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7112D"/>
                </a:solidFill>
              </a:defRPr>
            </a:pPr>
            <a:r>
              <a:rPr sz="975" b="0">
                <a:solidFill>
                  <a:srgbClr val="17112D"/>
                </a:solidFill>
              </a:rPr>
              <a:t>75 RPS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A317646-258E-4FA3-BDCF-B9C6BBAC2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215" y="3009900"/>
            <a:ext cx="1459424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FF"/>
          </a:solidFill>
          <a:ln xmlns:a="http://schemas.openxmlformats.org/drawingml/2006/main" w="9525">
            <a:solidFill>
              <a:srgbClr val="D8CCF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F570607-03CC-438A-8516-B04F97020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4465" y="3086100"/>
            <a:ext cx="1268924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7112D"/>
                </a:solidFill>
              </a:defRPr>
            </a:pPr>
            <a:r>
              <a:rPr sz="975" b="0">
                <a:solidFill>
                  <a:srgbClr val="17112D"/>
                </a:solidFill>
              </a:rPr>
              <a:t>PASS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11718F9-1F90-48DE-8063-538B60A06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8639" y="3009900"/>
            <a:ext cx="1459424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FF"/>
          </a:solidFill>
          <a:ln xmlns:a="http://schemas.openxmlformats.org/drawingml/2006/main" w="9525">
            <a:solidFill>
              <a:srgbClr val="D8CC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5837F7C-AD0A-4D7C-BD29-9DA68FAE0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3889" y="3086100"/>
            <a:ext cx="1268924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7112D"/>
                </a:solidFill>
              </a:defRPr>
            </a:pPr>
            <a:r>
              <a:rPr sz="975" b="0">
                <a:solidFill>
                  <a:srgbClr val="17112D"/>
                </a:solidFill>
              </a:rPr>
              <a:t>-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6977BDE-6FE0-43CC-BA82-7BB131914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8063" y="3009900"/>
            <a:ext cx="3830987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FF"/>
          </a:solidFill>
          <a:ln xmlns:a="http://schemas.openxmlformats.org/drawingml/2006/main" w="9525">
            <a:solidFill>
              <a:srgbClr val="D8CCF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6B08147-CFD0-4DBF-B793-4C19096AE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3313" y="3086100"/>
            <a:ext cx="3640487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7112D"/>
                </a:solidFill>
              </a:defRPr>
            </a:pPr>
            <a:r>
              <a:rPr sz="975" b="0">
                <a:solidFill>
                  <a:srgbClr val="17112D"/>
                </a:solidFill>
              </a:rPr>
              <a:t>CPU target 미도달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FEAEF6B-8F3F-43C7-9DA3-EA8108DD0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8050"/>
            <a:ext cx="2006708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F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4E21EDE-6548-48DE-8F1E-85EA68A7C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0"/>
            <a:ext cx="1816208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7112D"/>
                </a:solidFill>
              </a:defRPr>
            </a:pPr>
            <a:r>
              <a:rPr sz="975" b="0">
                <a:solidFill>
                  <a:srgbClr val="17112D"/>
                </a:solidFill>
              </a:rPr>
              <a:t>notification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7881557-283C-4772-890E-6805B6719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508" y="3448050"/>
            <a:ext cx="2006708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F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5A8D064-8253-419B-9BCC-99CC2B22E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7758" y="3524250"/>
            <a:ext cx="1816208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7112D"/>
                </a:solidFill>
              </a:defRPr>
            </a:pPr>
            <a:r>
              <a:rPr sz="975" b="0">
                <a:solidFill>
                  <a:srgbClr val="17112D"/>
                </a:solidFill>
              </a:rPr>
              <a:t>400 RPS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8C525E6-EBC8-4560-9791-D1B4C85C0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215" y="3448050"/>
            <a:ext cx="1459424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FF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E5968FC-8A56-434E-BEF9-37800477A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4465" y="3524250"/>
            <a:ext cx="1268924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7112D"/>
                </a:solidFill>
              </a:defRPr>
            </a:pPr>
            <a:r>
              <a:rPr sz="975" b="0">
                <a:solidFill>
                  <a:srgbClr val="17112D"/>
                </a:solidFill>
              </a:rPr>
              <a:t>FAIL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201729C-39CD-4462-A8FA-8CA367816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8639" y="3448050"/>
            <a:ext cx="1459424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FF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A08F6E1-1AE7-46A7-BB9B-3CB520093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3889" y="3524250"/>
            <a:ext cx="1268924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7112D"/>
                </a:solidFill>
              </a:defRPr>
            </a:pPr>
            <a:r>
              <a:rPr sz="975" b="0">
                <a:solidFill>
                  <a:srgbClr val="17112D"/>
                </a:solidFill>
              </a:rPr>
              <a:t>1→2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56ED624-4760-4612-9AA0-E5A4C4559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8063" y="3448050"/>
            <a:ext cx="3830987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F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16159A7-2675-4A25-B50F-0D5DF8030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3313" y="3524250"/>
            <a:ext cx="3640487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7112D"/>
                </a:solidFill>
              </a:defRPr>
            </a:pPr>
            <a:r>
              <a:rPr sz="975" b="0">
                <a:solidFill>
                  <a:srgbClr val="17112D"/>
                </a:solidFill>
              </a:rPr>
              <a:t>p99 SLO 초과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0678266-0A65-4C84-9565-01E10A5E1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2006708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FF"/>
          </a:solidFill>
          <a:ln xmlns:a="http://schemas.openxmlformats.org/drawingml/2006/main" w="9525">
            <a:solidFill>
              <a:srgbClr val="D8CCFF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ED54552-41B7-4265-BEF8-502E4D0A9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62400"/>
            <a:ext cx="1816208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7112D"/>
                </a:solidFill>
              </a:defRPr>
            </a:pPr>
            <a:r>
              <a:rPr sz="975" b="0">
                <a:solidFill>
                  <a:srgbClr val="17112D"/>
                </a:solidFill>
              </a:rPr>
              <a:t>payment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6B481EF-B36A-4174-93E8-5A6B473FE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508" y="3886200"/>
            <a:ext cx="2006708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FF"/>
          </a:solidFill>
          <a:ln xmlns:a="http://schemas.openxmlformats.org/drawingml/2006/main" w="9525">
            <a:solidFill>
              <a:srgbClr val="D8CCFF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DB00569-A804-42D6-ACBA-2A0FF5E39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7758" y="3962400"/>
            <a:ext cx="1816208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7112D"/>
                </a:solidFill>
              </a:defRPr>
            </a:pPr>
            <a:r>
              <a:rPr sz="975" b="0">
                <a:solidFill>
                  <a:srgbClr val="17112D"/>
                </a:solidFill>
              </a:rPr>
              <a:t>250 RPS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0CCE424-09D9-4592-B510-6A7352EC3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215" y="3886200"/>
            <a:ext cx="1459424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FF"/>
          </a:solidFill>
          <a:ln xmlns:a="http://schemas.openxmlformats.org/drawingml/2006/main" w="9525">
            <a:solidFill>
              <a:srgbClr val="D8CCFF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6746319-8266-470E-9C98-8460D4E46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4465" y="3962400"/>
            <a:ext cx="1268924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7112D"/>
                </a:solidFill>
              </a:defRPr>
            </a:pPr>
            <a:r>
              <a:rPr sz="975" b="0">
                <a:solidFill>
                  <a:srgbClr val="17112D"/>
                </a:solidFill>
              </a:rPr>
              <a:t>FAIL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FE1D46B-6178-483D-A4BB-1916589E0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8639" y="3886200"/>
            <a:ext cx="1459424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FF"/>
          </a:solidFill>
          <a:ln xmlns:a="http://schemas.openxmlformats.org/drawingml/2006/main" w="9525">
            <a:solidFill>
              <a:srgbClr val="D8CCFF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1AC74F6-845A-4399-ACC0-3F2013170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3889" y="3962400"/>
            <a:ext cx="1268924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7112D"/>
                </a:solidFill>
              </a:defRPr>
            </a:pPr>
            <a:r>
              <a:rPr sz="975" b="0">
                <a:solidFill>
                  <a:srgbClr val="17112D"/>
                </a:solidFill>
              </a:rPr>
              <a:t>1→3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615F915-2170-4D15-8F9F-04E709400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8063" y="3886200"/>
            <a:ext cx="3830987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FF"/>
          </a:solidFill>
          <a:ln xmlns:a="http://schemas.openxmlformats.org/drawingml/2006/main" w="9525">
            <a:solidFill>
              <a:srgbClr val="D8CCFF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8257297-574A-4A08-81FD-7FB70411F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3313" y="3962400"/>
            <a:ext cx="3640487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7112D"/>
                </a:solidFill>
              </a:defRPr>
            </a:pPr>
            <a:r>
              <a:rPr sz="975" b="0">
                <a:solidFill>
                  <a:srgbClr val="17112D"/>
                </a:solidFill>
              </a:rPr>
              <a:t>처리 한계 초과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BD46C3D-37D0-40A4-9074-5D2D3661C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2006708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FF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303B1A9-2F5A-4AEF-AF16-F9F6C707F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00550"/>
            <a:ext cx="1816208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7112D"/>
                </a:solidFill>
              </a:defRPr>
            </a:pPr>
            <a:r>
              <a:rPr sz="975" b="0">
                <a:solidFill>
                  <a:srgbClr val="17112D"/>
                </a:solidFill>
              </a:rPr>
              <a:t>concert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210DD69-A10D-4E1C-88A4-78E83E078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508" y="4324350"/>
            <a:ext cx="2006708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FF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0422AF4-37A3-47F2-9FFF-C40860EDD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7758" y="4400550"/>
            <a:ext cx="1816208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7112D"/>
                </a:solidFill>
              </a:defRPr>
            </a:pPr>
            <a:r>
              <a:rPr sz="975" b="0">
                <a:solidFill>
                  <a:srgbClr val="17112D"/>
                </a:solidFill>
              </a:rPr>
              <a:t>140 RPS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4FA31D7-3CF6-4C3A-BBB3-097747D25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215" y="4324350"/>
            <a:ext cx="1459424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FF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7729E9E-0155-47FA-B82F-AE19DDB98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4465" y="4400550"/>
            <a:ext cx="1268924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7112D"/>
                </a:solidFill>
              </a:defRPr>
            </a:pPr>
            <a:r>
              <a:rPr sz="975" b="0">
                <a:solidFill>
                  <a:srgbClr val="17112D"/>
                </a:solidFill>
              </a:rPr>
              <a:t>FAIL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AA47F0D-C865-4AEC-8212-BFCF70DA3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8639" y="4324350"/>
            <a:ext cx="1459424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FF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13152808-5453-4633-8B80-289F8420B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3889" y="4400550"/>
            <a:ext cx="1268924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7112D"/>
                </a:solidFill>
              </a:defRPr>
            </a:pPr>
            <a:r>
              <a:rPr sz="975" b="0">
                <a:solidFill>
                  <a:srgbClr val="17112D"/>
                </a:solidFill>
              </a:rPr>
              <a:t>1→4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0CB13D97-7985-4415-9B90-84047350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8063" y="4324350"/>
            <a:ext cx="3830987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FF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F8E2268-8779-4906-9099-2DCEDC949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3313" y="4400550"/>
            <a:ext cx="3640487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7112D"/>
                </a:solidFill>
              </a:defRPr>
            </a:pPr>
            <a:r>
              <a:rPr sz="975" b="0">
                <a:solidFill>
                  <a:srgbClr val="17112D"/>
                </a:solidFill>
              </a:rPr>
              <a:t>DB-bound read 병목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D916B6C-AF3F-4D51-A67D-6F19C95E3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102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4114F"/>
                </a:solidFill>
              </a:defRPr>
            </a:pPr>
            <a:r>
              <a:rPr sz="1500" b="1">
                <a:solidFill>
                  <a:srgbClr val="24114F"/>
                </a:solidFill>
              </a:rPr>
              <a:t>이번 실험은 CPU 기준 scale-out 확인이 중심이었다. 서비스별 autoscaling 기준은 DB·애플리케이션 지표까지 함께 봐야 한다.</a:t>
            </a:r>
          </a:p>
        </p:txBody>
      </p:sp>
    </p:spTree>
    <p:extLst>
      <p:ext uri="{BB962C8B-B14F-4D97-AF65-F5344CB8AC3E}">
        <p14:creationId xmlns:p14="http://schemas.microsoft.com/office/powerpoint/2010/main" val="46657289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B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8CA8279-A083-4BFF-998E-D6693533D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43F3"/>
          </a:solidFill>
          <a:ln xmlns:a="http://schemas.openxmlformats.org/drawingml/2006/main" w="0">
            <a:solidFill>
              <a:srgbClr val="6E43F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05EC2D-F38C-4B1B-9887-334B10327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2000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E43F3"/>
          </a:solidFill>
          <a:ln xmlns:a="http://schemas.openxmlformats.org/drawingml/2006/main" w="0">
            <a:solidFill>
              <a:srgbClr val="6E43F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13-2/3. HPA 해석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9AFCA8-28F6-4F39-927F-28ED9513C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6E43F3"/>
                </a:solidFill>
              </a:defRPr>
            </a:pPr>
            <a:r>
              <a:rPr sz="2550" b="1">
                <a:solidFill>
                  <a:srgbClr val="6E43F3"/>
                </a:solidFill>
              </a:rPr>
              <a:t>scale-out이 곧 SLO 회복은 아니었다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5EC503-8D52-46A2-B0CC-D2C97BBC5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0"/>
            <a:ext cx="9144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E43F3"/>
          </a:solidFill>
          <a:ln xmlns:a="http://schemas.openxmlformats.org/drawingml/2006/main" w="0">
            <a:solidFill>
              <a:srgbClr val="6E43F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티켓몽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EC523C-D9AC-451E-86E1-2EE5CC171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3436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9B7CFF"/>
                </a:solidFill>
              </a:defRPr>
            </a:pPr>
            <a:r>
              <a:rPr sz="975" b="1">
                <a:solidFill>
                  <a:srgbClr val="9B7CFF"/>
                </a:solidFill>
              </a:rPr>
              <a:t>Loadtest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12B9D6-F084-4CC5-8261-3A98F7A1D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B7CFF"/>
                </a:solidFill>
              </a:defRPr>
            </a:pPr>
            <a:r>
              <a:rPr sz="975" b="1">
                <a:solidFill>
                  <a:srgbClr val="9B7CFF"/>
                </a:solidFill>
              </a:rPr>
              <a:t>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6B0B41-8F23-47B5-A4BF-2234753C0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333375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BE019C-DCBE-47A2-B13C-6CCEFFCD4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85950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08A24"/>
                </a:solidFill>
              </a:defRPr>
            </a:pPr>
            <a:r>
              <a:rPr sz="1500" b="1">
                <a:solidFill>
                  <a:srgbClr val="F08A24"/>
                </a:solidFill>
              </a:rPr>
              <a:t>공통 결론 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0F73E7-818A-4042-B538-CFF395F1F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2914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C647E"/>
                </a:solidFill>
              </a:defRPr>
            </a:pPr>
            <a:r>
              <a:rPr sz="1125" b="0">
                <a:solidFill>
                  <a:srgbClr val="6C647E"/>
                </a:solidFill>
              </a:rPr>
              <a:t>Pod는 늘어났지만, Ready까지 11~14초가 걸렸다.</a:t>
            </a:r>
          </a:p>
          <a:p xmlns:a="http://schemas.openxmlformats.org/drawingml/2006/main">
            <a:pPr>
              <a:defRPr sz="1125" b="0">
                <a:solidFill>
                  <a:srgbClr val="6C647E"/>
                </a:solidFill>
              </a:defRPr>
            </a:pPr>
            <a:r>
              <a:rPr sz="1125" b="0">
                <a:solidFill>
                  <a:srgbClr val="6C647E"/>
                </a:solidFill>
              </a:rPr>
              <a:t>그 사이 spike 구간 p99가 기준을 넘을 수 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900425-0EA1-4C5D-BB4E-4011E91EE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714500"/>
            <a:ext cx="333375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E42F86-2231-4B93-92AC-39E112829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1885950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E5484D"/>
                </a:solidFill>
              </a:defRPr>
            </a:pPr>
            <a:r>
              <a:rPr sz="1500" b="1">
                <a:solidFill>
                  <a:srgbClr val="E5484D"/>
                </a:solidFill>
              </a:rPr>
              <a:t>공통 결론 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77F289-161F-494B-B1D0-CD7262DFE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247900"/>
            <a:ext cx="2914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C647E"/>
                </a:solidFill>
              </a:defRPr>
            </a:pPr>
            <a:r>
              <a:rPr sz="1125" b="0">
                <a:solidFill>
                  <a:srgbClr val="6C647E"/>
                </a:solidFill>
              </a:rPr>
              <a:t>DB read/write path가 남아 있으면 replica 증가 이후에도 p95/p99가 바로 회복되지 않는다.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A1BFF1-A8F4-4D55-BC3F-57BA08FB6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14500"/>
            <a:ext cx="333375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7769EE-9C06-470B-9154-0D5487DA6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885950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E43F3"/>
                </a:solidFill>
              </a:defRPr>
            </a:pPr>
            <a:r>
              <a:rPr sz="1500" b="1">
                <a:solidFill>
                  <a:srgbClr val="6E43F3"/>
                </a:solidFill>
              </a:rPr>
              <a:t>공통 결론 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DB65AE-F143-4B1B-B7AF-C7B1C321E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47900"/>
            <a:ext cx="2914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C647E"/>
                </a:solidFill>
              </a:defRPr>
            </a:pPr>
            <a:r>
              <a:rPr sz="1125" b="0">
                <a:solidFill>
                  <a:srgbClr val="6C647E"/>
                </a:solidFill>
              </a:rPr>
              <a:t>connection budget은 maxReplicas, workers, poolSize를 함께 계산해야 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5EC204-377E-4B71-BE5E-F18BE6F04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095750"/>
            <a:ext cx="9620250" cy="1104900"/>
          </a:xfrm>
          <a:prstGeom xmlns:a="http://schemas.openxmlformats.org/drawingml/2006/main" prst="roundRect">
            <a:avLst>
              <a:gd name="adj" fmla="val 15517"/>
            </a:avLst>
          </a:prstGeom>
          <a:solidFill xmlns:a="http://schemas.openxmlformats.org/drawingml/2006/main">
            <a:srgbClr val="17112D"/>
          </a:solidFill>
          <a:ln xmlns:a="http://schemas.openxmlformats.org/drawingml/2006/main" w="0">
            <a:solidFill>
              <a:srgbClr val="17112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48E959-7969-4FCB-8BAB-3789B72DC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38650"/>
            <a:ext cx="895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service_connection_budget = hpa_max_replicas × uvicorn_workers × (poolSize + maxOverflow) + worker_connection_budget</a:t>
            </a:r>
          </a:p>
        </p:txBody>
      </p:sp>
    </p:spTree>
    <p:extLst>
      <p:ext uri="{BB962C8B-B14F-4D97-AF65-F5344CB8AC3E}">
        <p14:creationId xmlns:p14="http://schemas.microsoft.com/office/powerpoint/2010/main" val="66619165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B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A0CDCDC-1AB0-4CEC-9FAF-DCDF885FB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43F3"/>
          </a:solidFill>
          <a:ln xmlns:a="http://schemas.openxmlformats.org/drawingml/2006/main" w="0">
            <a:solidFill>
              <a:srgbClr val="6E43F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D4D454-D102-4CD5-820E-B863435F1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714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E43F3"/>
          </a:solidFill>
          <a:ln xmlns:a="http://schemas.openxmlformats.org/drawingml/2006/main" w="0">
            <a:solidFill>
              <a:srgbClr val="6E43F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14. 전체 결과 요약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AF8599-4BF8-47AA-8357-888039011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6E43F3"/>
                </a:solidFill>
              </a:defRPr>
            </a:pPr>
            <a:r>
              <a:rPr sz="2550" b="1">
                <a:solidFill>
                  <a:srgbClr val="6E43F3"/>
                </a:solidFill>
              </a:rPr>
              <a:t>전체 결과 요약: 다음 설계 방향이 보였다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0A731F-07BC-41D7-BC9E-B638CCC05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0"/>
            <a:ext cx="9144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E43F3"/>
          </a:solidFill>
          <a:ln xmlns:a="http://schemas.openxmlformats.org/drawingml/2006/main" w="0">
            <a:solidFill>
              <a:srgbClr val="6E43F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티켓몽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36EDE8-53FF-4670-820A-1A6792CF1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3436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9B7CFF"/>
                </a:solidFill>
              </a:defRPr>
            </a:pPr>
            <a:r>
              <a:rPr sz="975" b="1">
                <a:solidFill>
                  <a:srgbClr val="9B7CFF"/>
                </a:solidFill>
              </a:rPr>
              <a:t>Result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200A3C-F959-41AC-8C2A-FD1343D68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B7CFF"/>
                </a:solidFill>
              </a:defRPr>
            </a:pPr>
            <a:r>
              <a:rPr sz="975" b="1">
                <a:solidFill>
                  <a:srgbClr val="9B7CFF"/>
                </a:solidFill>
              </a:rPr>
              <a:t>21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E1506D-F732-475A-8574-CB349A009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28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43F3"/>
          </a:solidFill>
          <a:ln xmlns:a="http://schemas.openxmlformats.org/drawingml/2006/main" w="0">
            <a:solidFill>
              <a:srgbClr val="6E43F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2F2DAD-E7BF-49F0-B595-2189F4960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752600"/>
            <a:ext cx="9677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112D"/>
                </a:solidFill>
              </a:defRPr>
            </a:pPr>
            <a:r>
              <a:rPr sz="1350" b="0">
                <a:solidFill>
                  <a:srgbClr val="17112D"/>
                </a:solidFill>
              </a:rPr>
              <a:t>API 순수 벤치마크로 p50/p95/p99와 error rate를 확인하고 SLO 후보로 사용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859CAA-F9A5-4DD1-B564-119CACA8E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43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43F3"/>
          </a:solidFill>
          <a:ln xmlns:a="http://schemas.openxmlformats.org/drawingml/2006/main" w="0">
            <a:solidFill>
              <a:srgbClr val="6E43F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B4D4CE-BBA1-4AE2-91C0-576A5F3F3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266950"/>
            <a:ext cx="9677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112D"/>
                </a:solidFill>
              </a:defRPr>
            </a:pPr>
            <a:r>
              <a:rPr sz="1350" b="0">
                <a:solidFill>
                  <a:srgbClr val="17112D"/>
                </a:solidFill>
              </a:rPr>
              <a:t>CPU 1000m 기준 Pod 1개가 안정적으로 처리 가능한 RPS를 서비스별로 분리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F59084-F9F3-42BE-9971-CE4044798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43F3"/>
          </a:solidFill>
          <a:ln xmlns:a="http://schemas.openxmlformats.org/drawingml/2006/main" w="0">
            <a:solidFill>
              <a:srgbClr val="6E43F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5DE3DC-7EFD-4EE7-A95B-DAB35D404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781300"/>
            <a:ext cx="9677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112D"/>
                </a:solidFill>
              </a:defRPr>
            </a:pPr>
            <a:r>
              <a:rPr sz="1350" b="0">
                <a:solidFill>
                  <a:srgbClr val="17112D"/>
                </a:solidFill>
              </a:rPr>
              <a:t>auth-service는 CPU 집약 서비스라 1000m / 30 RPS 기준으로 replica 대응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1A4EF5-3C93-473A-9658-65DE5817C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71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43F3"/>
          </a:solidFill>
          <a:ln xmlns:a="http://schemas.openxmlformats.org/drawingml/2006/main" w="0">
            <a:solidFill>
              <a:srgbClr val="6E43F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0B2486-64D7-4FD3-8F7E-DD27940CD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295650"/>
            <a:ext cx="9677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112D"/>
                </a:solidFill>
              </a:defRPr>
            </a:pPr>
            <a:r>
              <a:rPr sz="1350" b="0">
                <a:solidFill>
                  <a:srgbClr val="17112D"/>
                </a:solidFill>
              </a:rPr>
              <a:t>HPA는 여러 서비스에서 반응했지만 SLO 회복을 자동으로 보장하지 않음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8416D9-5A65-4734-9DBA-6BAC50F6B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86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43F3"/>
          </a:solidFill>
          <a:ln xmlns:a="http://schemas.openxmlformats.org/drawingml/2006/main" w="0">
            <a:solidFill>
              <a:srgbClr val="6E43F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292C73-0869-484D-9CF6-5608FF8F8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810000"/>
            <a:ext cx="9677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112D"/>
                </a:solidFill>
              </a:defRPr>
            </a:pPr>
            <a:r>
              <a:rPr sz="1350" b="0">
                <a:solidFill>
                  <a:srgbClr val="17112D"/>
                </a:solidFill>
              </a:rPr>
              <a:t>auth를 제외한 주요 서비스는 DB read/write 집중 구조라 Pod만 늘려서는 한계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29BB7C-D08B-4DD3-8B6E-04F682A2B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00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43F3"/>
          </a:solidFill>
          <a:ln xmlns:a="http://schemas.openxmlformats.org/drawingml/2006/main" w="0">
            <a:solidFill>
              <a:srgbClr val="6E43F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B882FA-B7CA-4704-8F38-D08F0BB1E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324350"/>
            <a:ext cx="9677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112D"/>
                </a:solidFill>
              </a:defRPr>
            </a:pPr>
            <a:r>
              <a:rPr sz="1350" b="0">
                <a:solidFill>
                  <a:srgbClr val="17112D"/>
                </a:solidFill>
              </a:rPr>
              <a:t>반복 조회와 좌석/공연/목록 요청은 Redis cache가 안정 RPS 확보의 핵심 후보</a:t>
            </a:r>
          </a:p>
        </p:txBody>
      </p:sp>
    </p:spTree>
    <p:extLst>
      <p:ext uri="{BB962C8B-B14F-4D97-AF65-F5344CB8AC3E}">
        <p14:creationId xmlns:p14="http://schemas.microsoft.com/office/powerpoint/2010/main" val="10344971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B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D4327DF-CD71-4603-8877-E21B021CB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43F3"/>
          </a:solidFill>
          <a:ln xmlns:a="http://schemas.openxmlformats.org/drawingml/2006/main" w="0">
            <a:solidFill>
              <a:srgbClr val="6E43F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21DD06-7F91-47C8-8342-DD5B57353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85737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E43F3"/>
          </a:solidFill>
          <a:ln xmlns:a="http://schemas.openxmlformats.org/drawingml/2006/main" w="0">
            <a:solidFill>
              <a:srgbClr val="6E43F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15. Trouble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B77E0B-05A8-44D8-B8DE-01857DA59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6E43F3"/>
                </a:solidFill>
              </a:defRPr>
            </a:pPr>
            <a:r>
              <a:rPr sz="2550" b="1">
                <a:solidFill>
                  <a:srgbClr val="6E43F3"/>
                </a:solidFill>
              </a:rPr>
              <a:t>Trace는 있었지만 작업 맥락이 없었다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B35BDB-3929-4C84-B8AC-C38C2C391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0"/>
            <a:ext cx="9144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E43F3"/>
          </a:solidFill>
          <a:ln xmlns:a="http://schemas.openxmlformats.org/drawingml/2006/main" w="0">
            <a:solidFill>
              <a:srgbClr val="6E43F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티켓몽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611A69-1201-4259-AF96-EA51D9BF8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3436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9B7CFF"/>
                </a:solidFill>
              </a:defRPr>
            </a:pPr>
            <a:r>
              <a:rPr sz="975" b="1">
                <a:solidFill>
                  <a:srgbClr val="9B7CFF"/>
                </a:solidFill>
              </a:rPr>
              <a:t>Trouble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8842D4-9417-4880-962D-DD64BAF97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B7CFF"/>
                </a:solidFill>
              </a:defRPr>
            </a:pPr>
            <a:r>
              <a:rPr sz="975" b="1">
                <a:solidFill>
                  <a:srgbClr val="9B7CFF"/>
                </a:solidFill>
              </a:rPr>
              <a:t>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107F8E-8F38-4552-B836-924B3CB8C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E5484D"/>
                </a:solidFill>
              </a:defRPr>
            </a:pPr>
            <a:r>
              <a:rPr sz="1500" b="1">
                <a:solidFill>
                  <a:srgbClr val="E5484D"/>
                </a:solidFill>
              </a:rPr>
              <a:t>Before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aee67f6e6443b6"/>
          <a:srcRect xmlns:a="http://schemas.openxmlformats.org/drawingml/2006/main" l="0" t="11879" r="0" b="1187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7250" y="1952625"/>
            <a:ext cx="4762500" cy="2381250"/>
          </a:xfrm>
          <a:prstGeom xmlns:a="http://schemas.openxmlformats.org/drawingml/2006/main" prst="roundRect">
            <a:avLst>
              <a:gd name="adj" fmla="val 5600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74AA3C-7E7F-4122-B34F-7225C4540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192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9F7A"/>
                </a:solidFill>
              </a:defRPr>
            </a:pPr>
            <a:r>
              <a:rPr sz="1500" b="1">
                <a:solidFill>
                  <a:srgbClr val="0F9F7A"/>
                </a:solidFill>
              </a:rPr>
              <a:t>After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22896d62c94b7c"/>
          <a:srcRect xmlns:a="http://schemas.openxmlformats.org/drawingml/2006/main" l="0" t="19110" r="0" b="191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0" y="1952625"/>
            <a:ext cx="4762500" cy="2381250"/>
          </a:xfrm>
          <a:prstGeom xmlns:a="http://schemas.openxmlformats.org/drawingml/2006/main" prst="roundRect">
            <a:avLst>
              <a:gd name="adj" fmla="val 5600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B4081A-5572-4B72-91D9-32BB1991E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67250"/>
            <a:ext cx="9334500" cy="9906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F7F3FF"/>
          </a:solidFill>
          <a:ln xmlns:a="http://schemas.openxmlformats.org/drawingml/2006/main" w="9525">
            <a:solidFill>
              <a:srgbClr val="9B7C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552FD1-14F5-4CB5-81CA-D4E393F06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838700"/>
            <a:ext cx="891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E43F3"/>
                </a:solidFill>
              </a:defRPr>
            </a:pPr>
            <a:r>
              <a:rPr sz="1500" b="1">
                <a:solidFill>
                  <a:srgbClr val="6E43F3"/>
                </a:solidFill>
              </a:rPr>
              <a:t>교훈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F06844-D32A-4D9A-A6A1-81BE6A991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200650"/>
            <a:ext cx="8915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C647E"/>
                </a:solidFill>
              </a:defRPr>
            </a:pPr>
            <a:r>
              <a:rPr sz="1050" b="0">
                <a:solidFill>
                  <a:srgbClr val="6C647E"/>
                </a:solidFill>
              </a:rPr>
              <a:t>DB span 수집만으로는 부족하다. 사람이 처리 맥락을 이해할 수 있도록 payment.outbox.dispatch_pending / dispatch_event 같은 부모 span이 필요했다.</a:t>
            </a:r>
          </a:p>
        </p:txBody>
      </p:sp>
    </p:spTree>
    <p:extLst>
      <p:ext uri="{BB962C8B-B14F-4D97-AF65-F5344CB8AC3E}">
        <p14:creationId xmlns:p14="http://schemas.microsoft.com/office/powerpoint/2010/main" val="102092933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B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0C90BF0-9C27-4FB2-B507-EF11C1191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43F3"/>
          </a:solidFill>
          <a:ln xmlns:a="http://schemas.openxmlformats.org/drawingml/2006/main" w="0">
            <a:solidFill>
              <a:srgbClr val="6E43F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A90A60-9E02-4849-A293-891FB290A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85737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E43F3"/>
          </a:solidFill>
          <a:ln xmlns:a="http://schemas.openxmlformats.org/drawingml/2006/main" w="0">
            <a:solidFill>
              <a:srgbClr val="6E43F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16. Trouble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DE4B20-D955-4B29-B385-F1C4D71B3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6E43F3"/>
                </a:solidFill>
              </a:defRPr>
            </a:pPr>
            <a:r>
              <a:rPr sz="2550" b="1">
                <a:solidFill>
                  <a:srgbClr val="6E43F3"/>
                </a:solidFill>
              </a:rPr>
              <a:t>낮은 RPS의 429는 서비스 한계가 아니었다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A9E0D5-9B20-4627-AC47-A2A3D50FD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0"/>
            <a:ext cx="9144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E43F3"/>
          </a:solidFill>
          <a:ln xmlns:a="http://schemas.openxmlformats.org/drawingml/2006/main" w="0">
            <a:solidFill>
              <a:srgbClr val="6E43F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티켓몽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8DAD74-EDD1-41D2-A6CE-5BD277232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3436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9B7CFF"/>
                </a:solidFill>
              </a:defRPr>
            </a:pPr>
            <a:r>
              <a:rPr sz="975" b="1">
                <a:solidFill>
                  <a:srgbClr val="9B7CFF"/>
                </a:solidFill>
              </a:rPr>
              <a:t>Trouble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D39A30-7447-46CA-9D34-71841E60F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B7CFF"/>
                </a:solidFill>
              </a:defRPr>
            </a:pPr>
            <a:r>
              <a:rPr sz="975" b="1">
                <a:solidFill>
                  <a:srgbClr val="9B7CFF"/>
                </a:solidFill>
              </a:rPr>
              <a:t>23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B3F0D7-772F-4549-9F41-AF5DBF22B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2857500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6A5BA0-1CED-40A3-A303-A123FAE75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05025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C647E"/>
                </a:solidFill>
              </a:defRPr>
            </a:pPr>
            <a:r>
              <a:rPr sz="1050" b="1">
                <a:solidFill>
                  <a:srgbClr val="6C647E"/>
                </a:solidFill>
              </a:rPr>
              <a:t>Kong 설정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04FF68-D8BB-49B8-B0F0-0D2E45252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52675"/>
            <a:ext cx="2514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08A24"/>
                </a:solidFill>
              </a:defRPr>
            </a:pPr>
            <a:r>
              <a:rPr sz="2250" b="1">
                <a:solidFill>
                  <a:srgbClr val="F08A24"/>
                </a:solidFill>
              </a:rPr>
              <a:t>minute 120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A6C482-C0C5-4021-8C9C-64AFA1408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52725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C647E"/>
                </a:solidFill>
              </a:defRPr>
            </a:pPr>
            <a:r>
              <a:rPr sz="975" b="0">
                <a:solidFill>
                  <a:srgbClr val="6C647E"/>
                </a:solidFill>
              </a:rPr>
              <a:t>policy local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2A2DED-DB18-4BBC-9599-B9834F05F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952625"/>
            <a:ext cx="2857500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E31BB1-E0D6-4C4C-9E32-B4438FB5E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105025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C647E"/>
                </a:solidFill>
              </a:defRPr>
            </a:pPr>
            <a:r>
              <a:rPr sz="1050" b="1">
                <a:solidFill>
                  <a:srgbClr val="6C647E"/>
                </a:solidFill>
              </a:rPr>
              <a:t>k6 실행 구조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203C03-643F-4F31-AF01-D036F9E26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352675"/>
            <a:ext cx="2514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6E43F3"/>
                </a:solidFill>
              </a:defRPr>
            </a:pPr>
            <a:r>
              <a:rPr sz="2250" b="1">
                <a:solidFill>
                  <a:srgbClr val="6E43F3"/>
                </a:solidFill>
              </a:rPr>
              <a:t>1 Pod IP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C631F1-73AA-4B63-AC4B-F21A91379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752725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C647E"/>
                </a:solidFill>
              </a:defRPr>
            </a:pPr>
            <a:r>
              <a:rPr sz="975" b="0">
                <a:solidFill>
                  <a:srgbClr val="6C647E"/>
                </a:solidFill>
              </a:rPr>
              <a:t>VU가 많아도 client IP는 같음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230D86-73A8-42CE-8F0F-2F25494B8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952625"/>
            <a:ext cx="2857500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481AD3-7719-4351-8AE3-7959D730D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105025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C647E"/>
                </a:solidFill>
              </a:defRPr>
            </a:pPr>
            <a:r>
              <a:rPr sz="1050" b="1">
                <a:solidFill>
                  <a:srgbClr val="6C647E"/>
                </a:solidFill>
              </a:rPr>
              <a:t>실제 한도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8406FD-AC95-4555-81CB-FFB12FD9C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352675"/>
            <a:ext cx="2514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5484D"/>
                </a:solidFill>
              </a:defRPr>
            </a:pPr>
            <a:r>
              <a:rPr sz="2250" b="1">
                <a:solidFill>
                  <a:srgbClr val="E5484D"/>
                </a:solidFill>
              </a:rPr>
              <a:t>~2 req/s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F16A43-F7EA-4A86-A694-3E99033DD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752725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C647E"/>
                </a:solidFill>
              </a:defRPr>
            </a:pPr>
            <a:r>
              <a:rPr sz="975" b="0">
                <a:solidFill>
                  <a:srgbClr val="6C647E"/>
                </a:solidFill>
              </a:rPr>
              <a:t>Pod 전체 기준으로 제한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F2126C-6B5F-4AF7-9B64-2C92AC944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91000"/>
            <a:ext cx="8953500" cy="1047750"/>
          </a:xfrm>
          <a:prstGeom xmlns:a="http://schemas.openxmlformats.org/drawingml/2006/main" prst="roundRect">
            <a:avLst>
              <a:gd name="adj" fmla="val 16364"/>
            </a:avLst>
          </a:prstGeom>
          <a:solidFill xmlns:a="http://schemas.openxmlformats.org/drawingml/2006/main">
            <a:srgbClr val="FFF8EF"/>
          </a:solidFill>
          <a:ln xmlns:a="http://schemas.openxmlformats.org/drawingml/2006/main" w="9525">
            <a:solidFill>
              <a:srgbClr val="FFD5A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DA69A9-DBF3-40D0-8598-4A59C04C0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362450"/>
            <a:ext cx="853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08A24"/>
                </a:solidFill>
              </a:defRPr>
            </a:pPr>
            <a:r>
              <a:rPr sz="1500" b="1">
                <a:solidFill>
                  <a:srgbClr val="F08A24"/>
                </a:solidFill>
              </a:rPr>
              <a:t>대응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F6975F-3DE8-4FFF-B664-29DCB584A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724400"/>
            <a:ext cx="8534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C647E"/>
                </a:solidFill>
              </a:defRPr>
            </a:pPr>
            <a:r>
              <a:rPr sz="1125" b="0">
                <a:solidFill>
                  <a:srgbClr val="6C647E"/>
                </a:solidFill>
              </a:rPr>
              <a:t>service/backend capacity를 측정하는 실험에서는 Gateway rate limit이 병목이 되면 안 된다.</a:t>
            </a:r>
          </a:p>
          <a:p xmlns:a="http://schemas.openxmlformats.org/drawingml/2006/main">
            <a:pPr>
              <a:defRPr sz="1125" b="0">
                <a:solidFill>
                  <a:srgbClr val="6C647E"/>
                </a:solidFill>
              </a:defRPr>
            </a:pPr>
            <a:r>
              <a:rPr sz="1125" b="0">
                <a:solidFill>
                  <a:srgbClr val="6C647E"/>
                </a:solidFill>
              </a:rPr>
              <a:t>따라서 부하테스트 시에는 한도를 올려 backend 한계를 볼 수 있게 했다.</a:t>
            </a:r>
          </a:p>
        </p:txBody>
      </p:sp>
    </p:spTree>
    <p:extLst>
      <p:ext uri="{BB962C8B-B14F-4D97-AF65-F5344CB8AC3E}">
        <p14:creationId xmlns:p14="http://schemas.microsoft.com/office/powerpoint/2010/main" val="23041111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B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467E80A-BF36-49A9-BF6F-831E84B2B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43F3"/>
          </a:solidFill>
          <a:ln xmlns:a="http://schemas.openxmlformats.org/drawingml/2006/main" w="0">
            <a:solidFill>
              <a:srgbClr val="6E43F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18A5E6-C39C-4CAA-8CE3-55601144A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2571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E43F3"/>
          </a:solidFill>
          <a:ln xmlns:a="http://schemas.openxmlformats.org/drawingml/2006/main" w="0">
            <a:solidFill>
              <a:srgbClr val="6E43F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17-18. Trouble 3/4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4061A6-FB57-454C-A6D2-54709BD69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6E43F3"/>
                </a:solidFill>
              </a:defRPr>
            </a:pPr>
            <a:r>
              <a:rPr sz="2550" b="1">
                <a:solidFill>
                  <a:srgbClr val="6E43F3"/>
                </a:solidFill>
              </a:rPr>
              <a:t>부하테스트는 API 응답 형태 문제도 드러낸다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2C5CBE-CD71-49AB-A707-0B306F0F9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0"/>
            <a:ext cx="9144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E43F3"/>
          </a:solidFill>
          <a:ln xmlns:a="http://schemas.openxmlformats.org/drawingml/2006/main" w="0">
            <a:solidFill>
              <a:srgbClr val="6E43F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티켓몽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2B3B0C-541E-4D60-9539-63EFFA768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3436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9B7CFF"/>
                </a:solidFill>
              </a:defRPr>
            </a:pPr>
            <a:r>
              <a:rPr sz="975" b="1">
                <a:solidFill>
                  <a:srgbClr val="9B7CFF"/>
                </a:solidFill>
              </a:rPr>
              <a:t>Trouble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F047CD-D22C-4A78-BFC8-AF122AF6E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B7CFF"/>
                </a:solidFill>
              </a:defRPr>
            </a:pPr>
            <a:r>
              <a:rPr sz="975" b="1">
                <a:solidFill>
                  <a:srgbClr val="9B7CFF"/>
                </a:solidFill>
              </a:rPr>
              <a:t>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1D6476-43D4-4014-BF93-9B1977695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4953000" cy="180975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8D5EF6-D06D-45B7-8A40-EC80BD9AB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85950"/>
            <a:ext cx="453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B6DEB"/>
                </a:solidFill>
              </a:defRPr>
            </a:pPr>
            <a:r>
              <a:rPr sz="1500" b="1">
                <a:solidFill>
                  <a:srgbClr val="2B6DEB"/>
                </a:solidFill>
              </a:rPr>
              <a:t>헤비유저 p99 문제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8505A5-213A-4A50-A004-8BE8CD542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45339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C647E"/>
                </a:solidFill>
              </a:defRPr>
            </a:pPr>
            <a:r>
              <a:rPr sz="1125" b="0">
                <a:solidFill>
                  <a:srgbClr val="6C647E"/>
                </a:solidFill>
              </a:rPr>
              <a:t>티켓/알림이 많은 사용자는 전체 목록 조회 때문에 일부 요청의 p99만 높게 튀었다.</a:t>
            </a:r>
          </a:p>
          <a:p xmlns:a="http://schemas.openxmlformats.org/drawingml/2006/main">
            <a:pPr>
              <a:defRPr sz="1125" b="0">
                <a:solidFill>
                  <a:srgbClr val="6C647E"/>
                </a:solidFill>
              </a:defRPr>
            </a:pPr>
            <a:r>
              <a:rPr sz="1125" b="0">
                <a:solidFill>
                  <a:srgbClr val="6C647E"/>
                </a:solidFill>
              </a:rPr>
              <a:t>첫 화면에는 일부 목록만 필요하므로 페이지네이션 기준으로 봐야 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E06527-E5B1-4BEA-B567-22089B7BD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14500"/>
            <a:ext cx="4953000" cy="180975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11EE25-308A-47E0-A88E-078F28B69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885950"/>
            <a:ext cx="453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E5484D"/>
                </a:solidFill>
              </a:defRPr>
            </a:pPr>
            <a:r>
              <a:rPr sz="1500" b="1">
                <a:solidFill>
                  <a:srgbClr val="E5484D"/>
                </a:solidFill>
              </a:rPr>
              <a:t>HPA 이후 DB 병목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D8D833-9B3C-43F5-93B1-58125BB76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47900"/>
            <a:ext cx="45339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C647E"/>
                </a:solidFill>
              </a:defRPr>
            </a:pPr>
            <a:r>
              <a:rPr sz="1125" b="0">
                <a:solidFill>
                  <a:srgbClr val="6C647E"/>
                </a:solidFill>
              </a:rPr>
              <a:t>Pod가 늘면 DB connection budget도 늘어난다.</a:t>
            </a:r>
          </a:p>
          <a:p xmlns:a="http://schemas.openxmlformats.org/drawingml/2006/main">
            <a:pPr>
              <a:defRPr sz="1125" b="0">
                <a:solidFill>
                  <a:srgbClr val="6C647E"/>
                </a:solidFill>
              </a:defRPr>
            </a:pPr>
            <a:r>
              <a:rPr sz="1125" b="0">
                <a:solidFill>
                  <a:srgbClr val="6C647E"/>
                </a:solidFill>
              </a:rPr>
              <a:t>반대로 pool을 낮추면 새 Pod가 Ready되기 전에 QueuePool 대기와 timeout이 먼저 올 수 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8B25C6-2698-410C-86C5-C365961F6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86250"/>
            <a:ext cx="2857500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F6E4FA-4300-4D19-B539-18C832EAE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43865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C647E"/>
                </a:solidFill>
              </a:defRPr>
            </a:pPr>
            <a:r>
              <a:rPr sz="1050" b="1">
                <a:solidFill>
                  <a:srgbClr val="6C647E"/>
                </a:solidFill>
              </a:rPr>
              <a:t>대응 방안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66D031-82A2-46E8-8E08-B0FF5FBD1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686300"/>
            <a:ext cx="2514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6E43F3"/>
                </a:solidFill>
              </a:defRPr>
            </a:pPr>
            <a:r>
              <a:rPr sz="2250" b="1">
                <a:solidFill>
                  <a:srgbClr val="6E43F3"/>
                </a:solidFill>
              </a:rPr>
              <a:t>DB limiter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5BE27F-2D5D-4D18-930D-5173A6DF4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08635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C647E"/>
                </a:solidFill>
              </a:defRPr>
            </a:pPr>
            <a:r>
              <a:rPr sz="975" b="0">
                <a:solidFill>
                  <a:srgbClr val="6C647E"/>
                </a:solidFill>
              </a:rPr>
              <a:t>DB 진입량 제한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77C901-CDFB-435B-9C3D-24DC3D859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286250"/>
            <a:ext cx="2857500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F22E74-073A-4D53-8721-B6EFD3A98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43865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C647E"/>
                </a:solidFill>
              </a:defRPr>
            </a:pPr>
            <a:r>
              <a:rPr sz="1050" b="1">
                <a:solidFill>
                  <a:srgbClr val="6C647E"/>
                </a:solidFill>
              </a:rPr>
              <a:t>대응 방안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41C4ED-7F3E-4716-86EF-99C8F6FCE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686300"/>
            <a:ext cx="2514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F9F7A"/>
                </a:solidFill>
              </a:defRPr>
            </a:pPr>
            <a:r>
              <a:rPr sz="2250" b="1">
                <a:solidFill>
                  <a:srgbClr val="0F9F7A"/>
                </a:solidFill>
              </a:rPr>
              <a:t>Redis cache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876DCA-4DED-47E2-96CA-F6C28F5FC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08635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C647E"/>
                </a:solidFill>
              </a:defRPr>
            </a:pPr>
            <a:r>
              <a:rPr sz="975" b="0">
                <a:solidFill>
                  <a:srgbClr val="6C647E"/>
                </a:solidFill>
              </a:rPr>
              <a:t>반복 조회 감소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9BD558-DEAC-4EF0-B12B-E14105A95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86250"/>
            <a:ext cx="2857500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F59165-E69C-45A6-A9DF-91ACF868D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43865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C647E"/>
                </a:solidFill>
              </a:defRPr>
            </a:pPr>
            <a:r>
              <a:rPr sz="1050" b="1">
                <a:solidFill>
                  <a:srgbClr val="6C647E"/>
                </a:solidFill>
              </a:rPr>
              <a:t>대응 방안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B312C4-F91A-446A-9750-F6F196B65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686300"/>
            <a:ext cx="2514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08A24"/>
                </a:solidFill>
              </a:defRPr>
            </a:pPr>
            <a:r>
              <a:rPr sz="2250" b="1">
                <a:solidFill>
                  <a:srgbClr val="F08A24"/>
                </a:solidFill>
              </a:rPr>
              <a:t>PgBouncer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241A20-B726-4727-A1A4-21F59705A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08635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C647E"/>
                </a:solidFill>
              </a:defRPr>
            </a:pPr>
            <a:r>
              <a:rPr sz="975" b="0">
                <a:solidFill>
                  <a:srgbClr val="6C647E"/>
                </a:solidFill>
              </a:rPr>
              <a:t>connection 풀링</a:t>
            </a:r>
          </a:p>
        </p:txBody>
      </p:sp>
    </p:spTree>
    <p:extLst>
      <p:ext uri="{BB962C8B-B14F-4D97-AF65-F5344CB8AC3E}">
        <p14:creationId xmlns:p14="http://schemas.microsoft.com/office/powerpoint/2010/main" val="2070771603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2411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0667D5D-7CE5-4551-ACC6-41D89251B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428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E43F3"/>
          </a:solidFill>
          <a:ln xmlns:a="http://schemas.openxmlformats.org/drawingml/2006/main" w="0">
            <a:solidFill>
              <a:srgbClr val="6E43F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최종 교훈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0D196C-3643-49DE-9A68-008ECB389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9334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관측성은 대시보드가 아니라</a:t>
            </a:r>
          </a:p>
          <a:p xmlns:a="http://schemas.openxmlformats.org/drawingml/2006/main">
            <a:pPr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실험 결과를 해석하기 위한 기반이었다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623781-3F74-4349-8C6E-510087534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90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43F3"/>
          </a:solidFill>
          <a:ln xmlns:a="http://schemas.openxmlformats.org/drawingml/2006/main" w="0">
            <a:solidFill>
              <a:srgbClr val="6E43F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2D1788-E6D1-45C7-98AD-3603B7B10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714750"/>
            <a:ext cx="929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HPA는 필요조건이며, 서비스 품질 회복을 보장하지 않는다.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1D3605-A9AC-415A-AD55-B9382A50B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05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43F3"/>
          </a:solidFill>
          <a:ln xmlns:a="http://schemas.openxmlformats.org/drawingml/2006/main" w="0">
            <a:solidFill>
              <a:srgbClr val="6E43F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1D76E1-D09D-4991-9FEF-86ACB80E1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229100"/>
            <a:ext cx="929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병목 분석에는 API 구조, DB connection, worker, payload, trace/log/profile이 함께 필요하다.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4D4D00-C722-400A-91AD-E309FB169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19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43F3"/>
          </a:solidFill>
          <a:ln xmlns:a="http://schemas.openxmlformats.org/drawingml/2006/main" w="0">
            <a:solidFill>
              <a:srgbClr val="6E43F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793FA7-E2C0-4EDC-9992-0459EC5C2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743450"/>
            <a:ext cx="929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DB 집중 서비스는 Redis cache, concurrency limiter, PgBouncer로 다음 실험을 이어가야 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0C04EF-154C-495E-8CE7-37AA3BA2C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0960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BBA8FF"/>
                </a:solidFill>
              </a:defRPr>
            </a:pPr>
            <a:r>
              <a:rPr sz="1200" b="1">
                <a:solidFill>
                  <a:srgbClr val="BBA8FF"/>
                </a:solidFill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9532202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2026-06-22T08:31:07.9750000Z</dcterms:created>
  <dcterms:modified xsi:type="dcterms:W3CDTF">2026-06-22T08:31:07.9750000Z</dcterms:modified>
</coreProperties>
</file>